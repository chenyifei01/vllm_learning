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00e18d103c46ad" /><Relationship Type="http://schemas.openxmlformats.org/officeDocument/2006/relationships/extended-properties" Target="/docProps/app.xml" Id="Rd68e0ca80a614fde" /><Relationship Type="http://schemas.openxmlformats.org/officeDocument/2006/relationships/officeDocument" Target="/ppt/presentation.xml" Id="Re4c3a9e1918a48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b68e8a09f44468"/>
  </p:sldMasterIdLst>
  <p:notesMasterIdLst>
    <p:notesMasterId xmlns:r="http://schemas.openxmlformats.org/officeDocument/2006/relationships" r:id="Rf37883a2031843ef"/>
  </p:notesMasterIdLst>
  <p:sldIdLst>
    <p:sldId xmlns:r="http://schemas.openxmlformats.org/officeDocument/2006/relationships" id="256" r:id="Rcba7dc739297405e"/>
    <p:sldId xmlns:r="http://schemas.openxmlformats.org/officeDocument/2006/relationships" id="257" r:id="R582fa61a361d490c"/>
    <p:sldId xmlns:r="http://schemas.openxmlformats.org/officeDocument/2006/relationships" id="258" r:id="R95a40fa3d29a482d"/>
    <p:sldId xmlns:r="http://schemas.openxmlformats.org/officeDocument/2006/relationships" id="259" r:id="R1308b34ec1834ef1"/>
    <p:sldId xmlns:r="http://schemas.openxmlformats.org/officeDocument/2006/relationships" id="260" r:id="R31bc6c139a8a41c3"/>
    <p:sldId xmlns:r="http://schemas.openxmlformats.org/officeDocument/2006/relationships" id="261" r:id="Rb1eef27b738745d1"/>
    <p:sldId xmlns:r="http://schemas.openxmlformats.org/officeDocument/2006/relationships" id="262" r:id="R827467cc1fc04e75"/>
    <p:sldId xmlns:r="http://schemas.openxmlformats.org/officeDocument/2006/relationships" id="263" r:id="R45c88d8f90444ed3"/>
    <p:sldId xmlns:r="http://schemas.openxmlformats.org/officeDocument/2006/relationships" id="264" r:id="Rede5d37feeb14041"/>
    <p:sldId xmlns:r="http://schemas.openxmlformats.org/officeDocument/2006/relationships" id="265" r:id="R865d00e832344ba2"/>
    <p:sldId xmlns:r="http://schemas.openxmlformats.org/officeDocument/2006/relationships" id="266" r:id="Rd381869465434878"/>
    <p:sldId xmlns:r="http://schemas.openxmlformats.org/officeDocument/2006/relationships" id="267" r:id="R4abedb1e2bb34fa1"/>
    <p:sldId xmlns:r="http://schemas.openxmlformats.org/officeDocument/2006/relationships" id="268" r:id="Rd5ae4e54fbf049d2"/>
    <p:sldId xmlns:r="http://schemas.openxmlformats.org/officeDocument/2006/relationships" id="269" r:id="Rcb6b62b245ff4d27"/>
    <p:sldId xmlns:r="http://schemas.openxmlformats.org/officeDocument/2006/relationships" id="270" r:id="R985f89755a4345c1"/>
    <p:sldId xmlns:r="http://schemas.openxmlformats.org/officeDocument/2006/relationships" id="271" r:id="R2b701ab17e154def"/>
    <p:sldId xmlns:r="http://schemas.openxmlformats.org/officeDocument/2006/relationships" id="272" r:id="R8e6d247ed0bf4e90"/>
    <p:sldId xmlns:r="http://schemas.openxmlformats.org/officeDocument/2006/relationships" id="273" r:id="R2169535020af4efb"/>
    <p:sldId xmlns:r="http://schemas.openxmlformats.org/officeDocument/2006/relationships" id="274" r:id="R50fbea3b8d7c43aa"/>
    <p:sldId xmlns:r="http://schemas.openxmlformats.org/officeDocument/2006/relationships" id="275" r:id="Rad1d73fe78924765"/>
    <p:sldId xmlns:r="http://schemas.openxmlformats.org/officeDocument/2006/relationships" id="276" r:id="Rfff1a3202f214681"/>
    <p:sldId xmlns:r="http://schemas.openxmlformats.org/officeDocument/2006/relationships" id="277" r:id="R621f8e5f6de04b79"/>
    <p:sldId xmlns:r="http://schemas.openxmlformats.org/officeDocument/2006/relationships" id="278" r:id="R26d00ea8eb214056"/>
    <p:sldId xmlns:r="http://schemas.openxmlformats.org/officeDocument/2006/relationships" id="279" r:id="R47249f0f3d7845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a11469d9af4365" /><Relationship Type="http://schemas.openxmlformats.org/officeDocument/2006/relationships/slideMaster" Target="/ppt/slideMasters/slideMaster1.xml" Id="R53b68e8a09f44468" /><Relationship Type="http://schemas.openxmlformats.org/officeDocument/2006/relationships/notesMaster" Target="/ppt/notesMasters/notesMaster1.xml" Id="Rf37883a2031843ef" /><Relationship Type="http://schemas.openxmlformats.org/officeDocument/2006/relationships/presProps" Target="/ppt/presProps.xml" Id="R71cb8af797f74f4b" /><Relationship Type="http://schemas.openxmlformats.org/officeDocument/2006/relationships/tableStyles" Target="/ppt/tableStyles.xml" Id="Rd6a0691158724355" /><Relationship Type="http://schemas.openxmlformats.org/officeDocument/2006/relationships/slide" Target="/ppt/slides/slide1.xml" Id="Rcba7dc739297405e" /><Relationship Type="http://schemas.openxmlformats.org/officeDocument/2006/relationships/slide" Target="/ppt/slides/slide2.xml" Id="R582fa61a361d490c" /><Relationship Type="http://schemas.openxmlformats.org/officeDocument/2006/relationships/slide" Target="/ppt/slides/slide3.xml" Id="R95a40fa3d29a482d" /><Relationship Type="http://schemas.openxmlformats.org/officeDocument/2006/relationships/slide" Target="/ppt/slides/slide4.xml" Id="R1308b34ec1834ef1" /><Relationship Type="http://schemas.openxmlformats.org/officeDocument/2006/relationships/slide" Target="/ppt/slides/slide5.xml" Id="R31bc6c139a8a41c3" /><Relationship Type="http://schemas.openxmlformats.org/officeDocument/2006/relationships/slide" Target="/ppt/slides/slide6.xml" Id="Rb1eef27b738745d1" /><Relationship Type="http://schemas.openxmlformats.org/officeDocument/2006/relationships/slide" Target="/ppt/slides/slide7.xml" Id="R827467cc1fc04e75" /><Relationship Type="http://schemas.openxmlformats.org/officeDocument/2006/relationships/slide" Target="/ppt/slides/slide8.xml" Id="R45c88d8f90444ed3" /><Relationship Type="http://schemas.openxmlformats.org/officeDocument/2006/relationships/slide" Target="/ppt/slides/slide9.xml" Id="Rede5d37feeb14041" /><Relationship Type="http://schemas.openxmlformats.org/officeDocument/2006/relationships/slide" Target="/ppt/slides/slide10.xml" Id="R865d00e832344ba2" /><Relationship Type="http://schemas.openxmlformats.org/officeDocument/2006/relationships/slide" Target="/ppt/slides/slide11.xml" Id="Rd381869465434878" /><Relationship Type="http://schemas.openxmlformats.org/officeDocument/2006/relationships/slide" Target="/ppt/slides/slide12.xml" Id="R4abedb1e2bb34fa1" /><Relationship Type="http://schemas.openxmlformats.org/officeDocument/2006/relationships/slide" Target="/ppt/slides/slide13.xml" Id="Rd5ae4e54fbf049d2" /><Relationship Type="http://schemas.openxmlformats.org/officeDocument/2006/relationships/slide" Target="/ppt/slides/slide14.xml" Id="Rcb6b62b245ff4d27" /><Relationship Type="http://schemas.openxmlformats.org/officeDocument/2006/relationships/slide" Target="/ppt/slides/slide15.xml" Id="R985f89755a4345c1" /><Relationship Type="http://schemas.openxmlformats.org/officeDocument/2006/relationships/slide" Target="/ppt/slides/slide16.xml" Id="R2b701ab17e154def" /><Relationship Type="http://schemas.openxmlformats.org/officeDocument/2006/relationships/slide" Target="/ppt/slides/slide17.xml" Id="R8e6d247ed0bf4e90" /><Relationship Type="http://schemas.openxmlformats.org/officeDocument/2006/relationships/slide" Target="/ppt/slides/slide18.xml" Id="R2169535020af4efb" /><Relationship Type="http://schemas.openxmlformats.org/officeDocument/2006/relationships/slide" Target="/ppt/slides/slide19.xml" Id="R50fbea3b8d7c43aa" /><Relationship Type="http://schemas.openxmlformats.org/officeDocument/2006/relationships/slide" Target="/ppt/slides/slide20.xml" Id="Rad1d73fe78924765" /><Relationship Type="http://schemas.openxmlformats.org/officeDocument/2006/relationships/slide" Target="/ppt/slides/slide21.xml" Id="Rfff1a3202f214681" /><Relationship Type="http://schemas.openxmlformats.org/officeDocument/2006/relationships/slide" Target="/ppt/slides/slide22.xml" Id="R621f8e5f6de04b79" /><Relationship Type="http://schemas.openxmlformats.org/officeDocument/2006/relationships/slide" Target="/ppt/slides/slide23.xml" Id="R26d00ea8eb214056" /><Relationship Type="http://schemas.openxmlformats.org/officeDocument/2006/relationships/slide" Target="/ppt/slides/slide24.xml" Id="R47249f0f3d7845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94773e708d40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0c2a6f4b044a61" /><Relationship Type="http://schemas.openxmlformats.org/officeDocument/2006/relationships/notesMaster" Target="/ppt/notesMasters/notesMaster1.xml" Id="R53413235ca4d43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84c3bcc437494d" /><Relationship Type="http://schemas.openxmlformats.org/officeDocument/2006/relationships/notesMaster" Target="/ppt/notesMasters/notesMaster1.xml" Id="R0eb7507fb7db4a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ba69ed64064c9e" /><Relationship Type="http://schemas.openxmlformats.org/officeDocument/2006/relationships/notesMaster" Target="/ppt/notesMasters/notesMaster1.xml" Id="Rb58e729a73de42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02c7991fbf4340" /><Relationship Type="http://schemas.openxmlformats.org/officeDocument/2006/relationships/notesMaster" Target="/ppt/notesMasters/notesMaster1.xml" Id="R14791038060042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1de831c6c64cec" /><Relationship Type="http://schemas.openxmlformats.org/officeDocument/2006/relationships/notesMaster" Target="/ppt/notesMasters/notesMaster1.xml" Id="R31e6ee91d56a4d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877b10457b41d7" /><Relationship Type="http://schemas.openxmlformats.org/officeDocument/2006/relationships/notesMaster" Target="/ppt/notesMasters/notesMaster1.xml" Id="Rb58b1a16fd1a49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31df75d0574c8c" /><Relationship Type="http://schemas.openxmlformats.org/officeDocument/2006/relationships/notesMaster" Target="/ppt/notesMasters/notesMaster1.xml" Id="Rc6a1bfb8882448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bb9b3355344c2f" /><Relationship Type="http://schemas.openxmlformats.org/officeDocument/2006/relationships/notesMaster" Target="/ppt/notesMasters/notesMaster1.xml" Id="R0b7ad3a3b6ea48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f09f2ec3a546e1" /><Relationship Type="http://schemas.openxmlformats.org/officeDocument/2006/relationships/notesMaster" Target="/ppt/notesMasters/notesMaster1.xml" Id="R50b5183db35140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12fdaf55d04220" /><Relationship Type="http://schemas.openxmlformats.org/officeDocument/2006/relationships/notesMaster" Target="/ppt/notesMasters/notesMaster1.xml" Id="Rf701c73f6d5a4a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b2275e4dd74118" /><Relationship Type="http://schemas.openxmlformats.org/officeDocument/2006/relationships/notesMaster" Target="/ppt/notesMasters/notesMaster1.xml" Id="R46c0ae6624cc43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82db6636da46f4" /><Relationship Type="http://schemas.openxmlformats.org/officeDocument/2006/relationships/notesMaster" Target="/ppt/notesMasters/notesMaster1.xml" Id="R553a65bd6bbd47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dbe3f78cb2481e" /><Relationship Type="http://schemas.openxmlformats.org/officeDocument/2006/relationships/notesMaster" Target="/ppt/notesMasters/notesMaster1.xml" Id="R30800225345747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6fd8ad651f4394" /><Relationship Type="http://schemas.openxmlformats.org/officeDocument/2006/relationships/notesMaster" Target="/ppt/notesMasters/notesMaster1.xml" Id="R5bf90538f9634f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117b668cb424ea5" /><Relationship Type="http://schemas.openxmlformats.org/officeDocument/2006/relationships/notesMaster" Target="/ppt/notesMasters/notesMaster1.xml" Id="Rfece99575eb543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8296f013694ed2" /><Relationship Type="http://schemas.openxmlformats.org/officeDocument/2006/relationships/notesMaster" Target="/ppt/notesMasters/notesMaster1.xml" Id="Rb12f9c259c3a46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41e735ab71b4ff7" /><Relationship Type="http://schemas.openxmlformats.org/officeDocument/2006/relationships/notesMaster" Target="/ppt/notesMasters/notesMaster1.xml" Id="Re70ef41896f04a3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7fd20009eb4ea1" /><Relationship Type="http://schemas.openxmlformats.org/officeDocument/2006/relationships/notesMaster" Target="/ppt/notesMasters/notesMaster1.xml" Id="Re0ecd19e7baf435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3ff1b76c6b443da" /><Relationship Type="http://schemas.openxmlformats.org/officeDocument/2006/relationships/notesMaster" Target="/ppt/notesMasters/notesMaster1.xml" Id="R1cb4b9b174a345a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a2ff17914448d9" /><Relationship Type="http://schemas.openxmlformats.org/officeDocument/2006/relationships/notesMaster" Target="/ppt/notesMasters/notesMaster1.xml" Id="R846fadcf138a411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429e023d8904d71" /><Relationship Type="http://schemas.openxmlformats.org/officeDocument/2006/relationships/notesMaster" Target="/ppt/notesMasters/notesMaster1.xml" Id="R27b563a2407441e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5dcbb9d554742c2" /><Relationship Type="http://schemas.openxmlformats.org/officeDocument/2006/relationships/notesMaster" Target="/ppt/notesMasters/notesMaster1.xml" Id="R803d00eb05f8460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730f7d6ccd84121" /><Relationship Type="http://schemas.openxmlformats.org/officeDocument/2006/relationships/notesMaster" Target="/ppt/notesMasters/notesMaster1.xml" Id="R1f5c1a4bfc90419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408603d8fd845bf" /><Relationship Type="http://schemas.openxmlformats.org/officeDocument/2006/relationships/notesMaster" Target="/ppt/notesMasters/notesMaster1.xml" Id="R0ce7b6bd3fb24b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建议时长：0.5 分钟。</a:t>
            </a:r>
          </a:p>
          <a:p xmlns:a="http://schemas.openxmlformats.org/drawingml/2006/main">
            <a:r>
              <a:t>讲解要点：交代对象：DeepSeek-OCR 视觉编码器中的二维相对位置偏置 Attention。报告按问题、改动、实测结果展开。</a:t>
            </a:r>
          </a:p>
          <a:p xmlns:a="http://schemas.openxmlformats.org/drawingml/2006/main">
            <a:r>
              <a:t>资料：docs/attention融合算子优化.md §1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讲解要点：先给结果建立参照。强调 ×8.75 是 S=4096 从 2514.7 us 到 287.5 us 的累计倍数，三轮逐步叠加。</a:t>
            </a:r>
          </a:p>
          <a:p xmlns:a="http://schemas.openxmlformats.org/drawingml/2006/main">
            <a:r>
              <a:t>资料：docs/attention融合算子优化.md §4.5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讲解要点：解释偏置寻址的关键：key j 映射到二维坐标 (j//side, j%side)。这个地址规律会决定 side=64 是否可用广播与连续读。</a:t>
            </a:r>
          </a:p>
          <a:p xmlns:a="http://schemas.openxmlformats.org/drawingml/2006/main">
            <a:r>
              <a:t>资料：docs/attention融合算子优化.md §1、§2.1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讲解要点：交代测试口径。S=side² 分别为 196、1600、4096，block_N=128，因此 key 块数为 2、13、32。</a:t>
            </a:r>
          </a:p>
          <a:p xmlns:a="http://schemas.openxmlformats.org/drawingml/2006/main">
            <a:r>
              <a:t>资料：docs/attention融合算子优化.md §1、§2.2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讲解要点：逐行讲一次片上数据路径。强调 Q 与两张 bias 表可跨 key 块复用，K/V 则随块流动。优化对象是相邻生产者与消费者的衔接。</a:t>
            </a:r>
          </a:p>
          <a:p xmlns:a="http://schemas.openxmlformats.org/drawingml/2006/main">
            <a:r>
              <a:t>资料：docs/attention融合算子优化.md §2.3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讲解要点：重点标出 T.serial、bias_and_ordinary_softmax、ND→NZ dual_copy 三处后续改动的落点。</a:t>
            </a:r>
          </a:p>
          <a:p xmlns:a="http://schemas.openxmlformats.org/drawingml/2006/main">
            <a:r>
              <a:t>资料：docs/attention融合算子优化.md §4.1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讲解要点：讲出诊断过程：Vector 比率高，不代表硬件有用计算多；2438 条 bias 指令中含大量行内重复。串行的 C/V 交接也未被隐藏。</a:t>
            </a:r>
          </a:p>
          <a:p xmlns:a="http://schemas.openxmlformats.org/drawingml/2006/main">
            <a:r>
              <a:t>资料：docs/attention融合算子优化.md §4.1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讲解要点：强调手写 SimdVF scope 中，编译器没有自动把 9 条 key-only 指令外提。说明为什么必须检查 get_kernel_source()，不能只看源代码。</a:t>
            </a:r>
          </a:p>
          <a:p xmlns:a="http://schemas.openxmlformats.org/drawingml/2006/main">
            <a:r>
              <a:t>资料：docs/attention融合算子优化.md §4.1、§4.2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讲解要点：说明 9 条索引指令原先执行 64 行×2 向量=128 次，即 1152 条；外提后每向量一次，共 18 条。rel_h_vec 和 scaled_score 依赖 query 行，所以仍留在行内。</a:t>
            </a:r>
          </a:p>
          <a:p xmlns:a="http://schemas.openxmlformats.org/drawingml/2006/main">
            <a:r>
              <a:t>资料：docs/attention融合算子优化.md §4.2 优化1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讲解要点：讲地址模式：side=64 时 REL_H 对 64 个 lane 同址，REL_W 连续。编译期分派消掉索引指令、两次 vgather2 和尾块掩码。side=40 跨行，继续走 gather。</a:t>
            </a:r>
          </a:p>
          <a:p xmlns:a="http://schemas.openxmlformats.org/drawingml/2006/main">
            <a:r>
              <a:t>资料：docs/attention融合算子优化.md §4.2 优化2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讲解要点：按代码顺序解释：偶数/奇数 BF16 分别占 32-bit lane 的低/高 16 位，OR 合并，再按 NZ stride 散写。原路径的 128 条重排指令和 16 KB staging 消失。</a:t>
            </a:r>
          </a:p>
          <a:p xmlns:a="http://schemas.openxmlformats.org/drawingml/2006/main">
            <a:r>
              <a:t>资料：docs/attention融合算子优化.md §4.2 优化3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讲解要点：避免把 compact 路径表述成无代价优化。它多一次扫描，因此按块数编译期分派。</a:t>
            </a:r>
          </a:p>
          <a:p xmlns:a="http://schemas.openxmlformats.org/drawingml/2006/main">
            <a:r>
              <a:t>资料：docs/attention融合算子优化.md §4.2 优化3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讲解要点：说明 vec_ratio 降低是好信号，不应误读为利用率变差。第一轮 S=196 仍为 1-stage，后续第二轮才补开 2-stage。</a:t>
            </a:r>
          </a:p>
          <a:p xmlns:a="http://schemas.openxmlformats.org/drawingml/2006/main">
            <a:r>
              <a:t>资料：docs/attention融合算子优化.md §4.2 结果、§4.3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讲解要点：提醒这些占比来自第一轮 2-stage 版本的分管线统计，和后面整 kernel 的单核组 trace 不是同一口径。</a:t>
            </a:r>
          </a:p>
          <a:p xmlns:a="http://schemas.openxmlformats.org/drawingml/2006/main">
            <a:r>
              <a:t>资料：docs/attention融合算子优化.md §4.3 问题分析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讲解要点：指出 13 是依据测试矩阵与双遍 softmax 成本决定的编译期阈值。短循环的 2-stage 仍有 5.7% 收益。</a:t>
            </a:r>
          </a:p>
          <a:p xmlns:a="http://schemas.openxmlformats.org/drawingml/2006/main">
            <a:r>
              <a:t>资料：docs/attention融合算子优化.md §4.3 关键变化、结果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讲解要点：沿时间轴指认 Cube 与两个 AIV 的交错。不要把单条管线速度变化当成原因，本组 A/B 只改变 stage 数。</a:t>
            </a:r>
          </a:p>
          <a:p xmlns:a="http://schemas.openxmlformats.org/drawingml/2006/main">
            <a:r>
              <a:t>资料：docs/attention融合算子优化.md §4.3；图：docs/2_stages.png、docs/3_stages.png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讲解要点：解释“各管线占墙钟之和超过 100%”意味着真实 overlap。区分这里的 AIV0 95.9% 与 72 核均值的 96.6%。</a:t>
            </a:r>
          </a:p>
          <a:p xmlns:a="http://schemas.openxmlformats.org/drawingml/2006/main">
            <a:r>
              <a:t>资料：docs/attention融合算子优化.md §4.3 最终版本单核组统计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讲解要点：先说明 op-count 对 ordinary softmax 代价估计偏低，再解释 1344/1.41≈948 的来源。强调 hint 只改变调度，不改变硬件指令本身；4 次复测中位数 13.3→12.1 us。</a:t>
            </a:r>
          </a:p>
          <a:p xmlns:a="http://schemas.openxmlformats.org/drawingml/2006/main">
            <a:r>
              <a:t>资料：docs/attention融合算子优化.md §4.4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讲解要点：按绝对数值口述三轮收益。注意第三轮对 S=1600 无变化；S=4096 只从 287.9 到 287.5 us，主要收益体现于 S=196。</a:t>
            </a:r>
          </a:p>
          <a:p xmlns:a="http://schemas.openxmlformats.org/drawingml/2006/main">
            <a:r>
              <a:t>资料：docs/attention融合算子优化.md §4.5；图：docs/attention_latency_evolution.png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讲解要点：逐 case 解释最终状态。强调 S=1600 的 mte2 高并不等于带宽饱和；S=4096 已接近 Vector 吞吐上限，填空隙空间有限。</a:t>
            </a:r>
          </a:p>
          <a:p xmlns:a="http://schemas.openxmlformats.org/drawingml/2006/main">
            <a:r>
              <a:t>资料：docs/attention融合算子优化.md §4.5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讲解要点：用 S=1600 说明为什么单看 mte2_ratio 容易误判。展示联合指标如何把“带宽不够”与“短 burst 结构不佳”区分开。</a:t>
            </a:r>
          </a:p>
          <a:p xmlns:a="http://schemas.openxmlformats.org/drawingml/2006/main">
            <a:r>
              <a:t>资料：docs/attention融合算子优化.md §5.1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讲解要点：这些结论是文档记录的版本相关观察，不能泛化为 TileLang 或 CANN 的通用语义。强调不要追逐单个代理指标。</a:t>
            </a:r>
          </a:p>
          <a:p xmlns:a="http://schemas.openxmlformats.org/drawingml/2006/main">
            <a:r>
              <a:t>资料：docs/attention融合算子优化.md §5.2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讲解要点：用四个动词总结：外提、倒推布局、实测流水、校准调度。最后再次提醒所有改动的采纳依据是同条件上板 A/B。</a:t>
            </a:r>
          </a:p>
          <a:p xmlns:a="http://schemas.openxmlformats.org/drawingml/2006/main">
            <a:r>
              <a:t>资料：docs/attention融合算子优化.md §5.2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建议时长：2 分钟。</a:t>
            </a:r>
          </a:p>
          <a:p xmlns:a="http://schemas.openxmlformats.org/drawingml/2006/main">
            <a:r>
              <a:t>讲解要点：按模板结束页收尾，进入现场问答。</a:t>
            </a:r>
          </a:p>
          <a:p xmlns:a="http://schemas.openxmlformats.org/drawingml/2006/main">
            <a:r>
              <a:t>资料：CANN算子性能优化经验分享.pptx 原始结束页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30fc459cc442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8b6de0ef6d4233" /><Relationship Type="http://schemas.openxmlformats.org/officeDocument/2006/relationships/slideLayout" Target="/ppt/slideLayouts/slideLayout1.xml" Id="R59150ef58c9a46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150ef58c9a46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7545b762e4877" /><Relationship Type="http://schemas.openxmlformats.org/officeDocument/2006/relationships/image" Target="/ppt/media/image.png" Id="Ra5cea59cc5974169" /><Relationship Type="http://schemas.openxmlformats.org/officeDocument/2006/relationships/notesSlide" Target="/ppt/notesSlides/notesSlide1.xml" Id="Rd6c2d502f6034d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ac376b1484b51" /><Relationship Type="http://schemas.openxmlformats.org/officeDocument/2006/relationships/image" Target="/ppt/media/image2.png" Id="R3eb51c507e944b18" /><Relationship Type="http://schemas.openxmlformats.org/officeDocument/2006/relationships/notesSlide" Target="/ppt/notesSlides/notesSlide2.xml" Id="Recd0d2716da54b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9235e63ba471d" /><Relationship Type="http://schemas.openxmlformats.org/officeDocument/2006/relationships/image" Target="/ppt/media/image3.png" Id="Rdbfb7b51afbf4966" /><Relationship Type="http://schemas.openxmlformats.org/officeDocument/2006/relationships/notesSlide" Target="/ppt/notesSlides/notesSlide3.xml" Id="Rf162c1a92ec948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be51dd8d044d3" /><Relationship Type="http://schemas.openxmlformats.org/officeDocument/2006/relationships/image" Target="/ppt/media/image4.png" Id="R27dc1f6816b142e0" /><Relationship Type="http://schemas.openxmlformats.org/officeDocument/2006/relationships/notesSlide" Target="/ppt/notesSlides/notesSlide4.xml" Id="R7b13d2dfd08145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13e6d7b534ba5" /><Relationship Type="http://schemas.openxmlformats.org/officeDocument/2006/relationships/image" Target="/ppt/media/image5.png" Id="Reb4183be96f84fb6" /><Relationship Type="http://schemas.openxmlformats.org/officeDocument/2006/relationships/notesSlide" Target="/ppt/notesSlides/notesSlide5.xml" Id="R2853f98555b846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812f3a44b49f2" /><Relationship Type="http://schemas.openxmlformats.org/officeDocument/2006/relationships/image" Target="/ppt/media/image6.png" Id="R093c3ed0988a4fc4" /><Relationship Type="http://schemas.openxmlformats.org/officeDocument/2006/relationships/notesSlide" Target="/ppt/notesSlides/notesSlide6.xml" Id="R3694796a77de41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9d95e8b54034" /><Relationship Type="http://schemas.openxmlformats.org/officeDocument/2006/relationships/image" Target="/ppt/media/image7.png" Id="R651bddd3e4e0484b" /><Relationship Type="http://schemas.openxmlformats.org/officeDocument/2006/relationships/notesSlide" Target="/ppt/notesSlides/notesSlide7.xml" Id="R3ee9c3bff28242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eb5c264814751" /><Relationship Type="http://schemas.openxmlformats.org/officeDocument/2006/relationships/image" Target="/ppt/media/image8.png" Id="Rc8eee9c8fbb34525" /><Relationship Type="http://schemas.openxmlformats.org/officeDocument/2006/relationships/notesSlide" Target="/ppt/notesSlides/notesSlide8.xml" Id="R49ae1da4ba4d43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e5fa4be5842d5" /><Relationship Type="http://schemas.openxmlformats.org/officeDocument/2006/relationships/image" Target="/ppt/media/image9.png" Id="R143805312d4243bf" /><Relationship Type="http://schemas.openxmlformats.org/officeDocument/2006/relationships/notesSlide" Target="/ppt/notesSlides/notesSlide9.xml" Id="R44a589ab120145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a61b25b4e415f" /><Relationship Type="http://schemas.openxmlformats.org/officeDocument/2006/relationships/image" Target="/ppt/media/image10.png" Id="R20e659407d4b4a54" /><Relationship Type="http://schemas.openxmlformats.org/officeDocument/2006/relationships/notesSlide" Target="/ppt/notesSlides/notesSlide10.xml" Id="R7e040624d29443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a922d6dc54948" /><Relationship Type="http://schemas.openxmlformats.org/officeDocument/2006/relationships/image" Target="/ppt/media/image11.png" Id="R1bbaec228ec646c8" /><Relationship Type="http://schemas.openxmlformats.org/officeDocument/2006/relationships/notesSlide" Target="/ppt/notesSlides/notesSlide11.xml" Id="R979896c230af45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f6143e1634ec5" /><Relationship Type="http://schemas.openxmlformats.org/officeDocument/2006/relationships/image" Target="/ppt/media/image12.png" Id="Rf722a554c0e140c4" /><Relationship Type="http://schemas.openxmlformats.org/officeDocument/2006/relationships/notesSlide" Target="/ppt/notesSlides/notesSlide12.xml" Id="Rd069e5846e2c42b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184a779af4357" /><Relationship Type="http://schemas.openxmlformats.org/officeDocument/2006/relationships/image" Target="/ppt/media/image13.png" Id="R2051ddbcc5f945d0" /><Relationship Type="http://schemas.openxmlformats.org/officeDocument/2006/relationships/notesSlide" Target="/ppt/notesSlides/notesSlide13.xml" Id="R67e66281bc7646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a10bcfb0f4fad" /><Relationship Type="http://schemas.openxmlformats.org/officeDocument/2006/relationships/image" Target="/ppt/media/image14.png" Id="Rd4cb43179113439c" /><Relationship Type="http://schemas.openxmlformats.org/officeDocument/2006/relationships/notesSlide" Target="/ppt/notesSlides/notesSlide14.xml" Id="Rc0cda8d877df44b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484dd9c36408c" /><Relationship Type="http://schemas.openxmlformats.org/officeDocument/2006/relationships/image" Target="/ppt/media/image15.png" Id="Rd0c3c11b618b4bb0" /><Relationship Type="http://schemas.openxmlformats.org/officeDocument/2006/relationships/notesSlide" Target="/ppt/notesSlides/notesSlide15.xml" Id="R67dfca88272a4d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7850d62ed479f" /><Relationship Type="http://schemas.openxmlformats.org/officeDocument/2006/relationships/image" Target="/ppt/media/image16.png" Id="Rf2d1e78bc8e1473a" /><Relationship Type="http://schemas.openxmlformats.org/officeDocument/2006/relationships/image" Target="/ppt/media/image17.png" Id="R49e24a2a1bc24c70" /><Relationship Type="http://schemas.openxmlformats.org/officeDocument/2006/relationships/image" Target="/ppt/media/image18.png" Id="R233e6ef413624d85" /><Relationship Type="http://schemas.openxmlformats.org/officeDocument/2006/relationships/notesSlide" Target="/ppt/notesSlides/notesSlide16.xml" Id="R1d7fb759d32d46c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4929fd38a4629" /><Relationship Type="http://schemas.openxmlformats.org/officeDocument/2006/relationships/image" Target="/ppt/media/image19.png" Id="R300fd0d1a395443e" /><Relationship Type="http://schemas.openxmlformats.org/officeDocument/2006/relationships/notesSlide" Target="/ppt/notesSlides/notesSlide17.xml" Id="R7c619d39792348b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dc4f7abcf4ade" /><Relationship Type="http://schemas.openxmlformats.org/officeDocument/2006/relationships/image" Target="/ppt/media/image20.png" Id="R49a2e54c4d1d4a38" /><Relationship Type="http://schemas.openxmlformats.org/officeDocument/2006/relationships/notesSlide" Target="/ppt/notesSlides/notesSlide18.xml" Id="R19da382c39714a2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53c109d2b4ba4" /><Relationship Type="http://schemas.openxmlformats.org/officeDocument/2006/relationships/image" Target="/ppt/media/image21.png" Id="Rc8205b837eba462d" /><Relationship Type="http://schemas.openxmlformats.org/officeDocument/2006/relationships/image" Target="/ppt/media/image22.png" Id="R2587e7e44d5e4f29" /><Relationship Type="http://schemas.openxmlformats.org/officeDocument/2006/relationships/notesSlide" Target="/ppt/notesSlides/notesSlide19.xml" Id="Rd18ce3d0aea9410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94b50cabc4a6d" /><Relationship Type="http://schemas.openxmlformats.org/officeDocument/2006/relationships/image" Target="/ppt/media/image23.png" Id="R68857ae085d44b5b" /><Relationship Type="http://schemas.openxmlformats.org/officeDocument/2006/relationships/notesSlide" Target="/ppt/notesSlides/notesSlide20.xml" Id="Rcc7587678df54da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d5304053c437c" /><Relationship Type="http://schemas.openxmlformats.org/officeDocument/2006/relationships/image" Target="/ppt/media/image24.png" Id="Rfcd4ae9d60aa4fc2" /><Relationship Type="http://schemas.openxmlformats.org/officeDocument/2006/relationships/notesSlide" Target="/ppt/notesSlides/notesSlide21.xml" Id="R4b0d8bae149c4d8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3fd0ee3bc4f0c" /><Relationship Type="http://schemas.openxmlformats.org/officeDocument/2006/relationships/image" Target="/ppt/media/image25.png" Id="Rd29e2e54de5443ba" /><Relationship Type="http://schemas.openxmlformats.org/officeDocument/2006/relationships/notesSlide" Target="/ppt/notesSlides/notesSlide22.xml" Id="R3f5ae79ff06f432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baa1211284786" /><Relationship Type="http://schemas.openxmlformats.org/officeDocument/2006/relationships/image" Target="/ppt/media/image26.png" Id="Re83620e9e6df44b2" /><Relationship Type="http://schemas.openxmlformats.org/officeDocument/2006/relationships/notesSlide" Target="/ppt/notesSlides/notesSlide23.xml" Id="Re0281e45d226475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277f8e0ae46e0" /><Relationship Type="http://schemas.openxmlformats.org/officeDocument/2006/relationships/image" Target="/ppt/media/image27.png" Id="Re557253ea2664b1a" /><Relationship Type="http://schemas.openxmlformats.org/officeDocument/2006/relationships/notesSlide" Target="/ppt/notesSlides/notesSlide24.xml" Id="R385c2df4c07548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ea59cc597416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BD30D-94DB-40FA-813C-EEBDFE66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00175"/>
            <a:ext cx="704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Attention 融合算子</a:t>
            </a:r>
          </a:p>
          <a:p xmlns:a="http://schemas.openxmlformats.org/drawingml/2006/main">
            <a:pPr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Ascend 性能优化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2F32B-B997-412D-895A-FAA5BFE9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attn_rel_h_rel_w 的数据流、流水与调度实践</a:t>
            </a:r>
          </a:p>
        </p:txBody>
      </p:sp>
    </p:spTree>
    <p:extLst>
      <p:ext uri="{BB962C8B-B14F-4D97-AF65-F5344CB8AC3E}">
        <p14:creationId xmlns:p14="http://schemas.microsoft.com/office/powerpoint/2010/main" val="5172681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E0C7E5-8D98-4FA2-AFF2-28AC68B9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2E818-317E-48D4-A1F6-DB4F8A2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全局结论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B41EE-F9AA-4571-8179-388525B7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三轮优化累计加速最高 ×8.75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B23A-E311-4357-91BD-D8B5B9B2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主体案例：S=196 / 1600 / 4096，均为同一算子的不同视觉 token 规模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01ADD-AB18-424E-8778-24DFBEAE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9F841-9DB3-40DA-B432-5E867CBA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8F94D-BAE8-4BD3-BAB6-30EA424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5170C-B5E8-4652-86BB-2C3C1917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51c507e944b1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33151-744E-44B9-ADC6-3ECDDA10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F6C61-43D7-41E6-B769-B20C48D5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S=196 最终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949E3-3E20-4249-8925-E505F312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12.1 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88C47-832F-4BE2-86F3-28FEE194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936C4-5271-4C1A-A169-691E824B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S=1600 最终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EFB8E-D0E4-47EC-B8E4-F32E23CC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89.5 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48BDE-E1C1-4160-AA77-7EB70461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35C38-518F-4238-973D-7F83CD1C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S=4096 最终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BB2D3-6681-4C04-9651-5B034E8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287.5 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FB6A0-3748-4EE9-9224-9A88590F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19250"/>
            <a:ext cx="2876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65EFF-1CA5-4E3B-956E-E3B24CCA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0497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S=4096 加速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485DFB-9030-441A-8A62-9961E3BF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43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×8.75</a:t>
            </a:r>
          </a:p>
        </p:txBody>
      </p:sp>
      <p:graphicFrame>
        <p:nvGraphicFramePr>
          <p:cNvPr id="45" name=""/>
          <p:cNvGraphicFramePr/>
          <p:nvPr/>
        </p:nvGraphicFramePr>
        <p:xfrm>
          <a:off xmlns:a="http://schemas.openxmlformats.org/drawingml/2006/main" x="457200" y="2857500"/>
          <a:ext xmlns:a="http://schemas.openxmlformats.org/drawingml/2006/main" cx="11277600" cy="2305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46101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数据流重构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流水深度分派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latency hint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98FB1-8671-4CF4-B57D-5D632B39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76875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顺序：消除冗余指令与布局中转 → 填平 C/V 交接空档 → 校准调度成本模型</a:t>
            </a:r>
          </a:p>
        </p:txBody>
      </p:sp>
    </p:spTree>
    <p:extLst>
      <p:ext uri="{BB962C8B-B14F-4D97-AF65-F5344CB8AC3E}">
        <p14:creationId xmlns:p14="http://schemas.microsoft.com/office/powerpoint/2010/main" val="16723051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882C3-75F5-402F-8751-EDB1C24B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66900-A17B-4430-81C2-904962E5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D119AD-4F3F-4859-8934-1AF3341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二维相对位置偏置 Attention 的计算式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1EDB7-9EE4-4B96-A10D-7B90AB6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标准在线 softmax 前，多了 REL_H / REL_W 两次查表修正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BA9C9-FD60-43DB-AA21-3116E2C2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DAC4F-413D-4F7A-98AF-2D077825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2929D-5C6D-4F60-8EC0-A82A8C21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88734-4532-4017-AD91-9DC8A2C1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b7b51afbf496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51FAF-C92D-4815-8CA2-041F2428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6229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F0845-51F0-4AE7-968D-E2826069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C2A66-D38C-43C2-BAE5-6C2E38D7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5829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score[i,j] = Q[i] · K[j] / sqrt(D)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REL_H[i, j // side]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REL_W[i, j % side]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 = online_softmax(score)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 = P @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0D3F1-061D-400E-8C4C-66117AF1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33550"/>
            <a:ext cx="3762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视觉编码器中的位置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AAEBAE-A41F-44FE-88A0-F7BD118C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90750"/>
            <a:ext cx="4000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文档图像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patch embedding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ViT block × N（每层调用本算子）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语言模型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37A3D-BA2B-47DA-B4E3-855FB1A2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09347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BA2F1-76C1-41DA-8CE3-A5A2D341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硬件映射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A7805D-9741-4829-82E9-FC9C1D7A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019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QKᵀ / PV：AIC Cube     scale / bias / softmax / rescale：AIV Vector     1 AIC + 2 AIV / task</a:t>
            </a:r>
          </a:p>
        </p:txBody>
      </p:sp>
    </p:spTree>
    <p:extLst>
      <p:ext uri="{BB962C8B-B14F-4D97-AF65-F5344CB8AC3E}">
        <p14:creationId xmlns:p14="http://schemas.microsoft.com/office/powerpoint/2010/main" val="14425833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380D2-998E-4E98-A6A8-8D690084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9EFCF-EF80-4343-8973-EE739DB5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88B81-87E8-4AE5-93F4-A212219E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测试环境、输入输出与 shape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4FF19-44A7-4EDF-A457-0D5CC624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三组 case 的 key 块数分别为 2 / 13 / 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3C4AD-B264-49A5-8749-5CC5EC97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ED9A1-D531-463E-A110-62F02F78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9DC14-AA23-4BF9-84C4-3FA59AF2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E528E-70A9-4F3C-ABF2-2C2D28BC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c1f6816b142e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002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环境项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Ascend950DT_9592（V120），36 AIC / 72 AIV，1650/1650 MHz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CANN 9.1.0；tilelang-deepseek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(batch, side)=(2,14)/(1,40)/(1,64)，heads=12，D=64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 BF16，FP32 累加，概率 BF16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4000500"/>
          <a:ext xmlns:a="http://schemas.openxmlformats.org/drawingml/2006/main" cx="112776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452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张量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 / K /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BSHD；Q task 内常驻 L1，K/V 按 key 块流入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REL_H / REL_W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w_aligned]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w_aligned=ceil(side/8)×8；task 序幕进 UB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Output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FP32 累加归一化后转 BF16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8500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A1EF17-53A5-4C5E-A93B-D376B42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CA99A-6E2C-4FFB-BDD2-321F75D1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D6EBD-825B-4675-8695-8501291C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片上数据流与 C/V 交接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3B818E-6BA8-4CCC-845C-ABA1440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完整 P 矩阵不落 GM；每个概率块仅在片上参加当前 key 块的 PV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17C4A-28ED-4006-8479-56904E64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F4687-339C-45B6-AA9D-FCD7F041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5ADFD-A887-483E-B4D9-C0AFEC0A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08241-F93B-4D62-9A63-A0E92209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183be96f84fb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6D1BE-4FC0-4BE1-96DC-859DAA80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输入搬运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1049F-7158-4E23-84BB-49461B0B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00F85-9D30-42A2-A1EF-6C05AB45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4307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Q GM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0727A-7F6F-4397-8C0F-F51FC990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 L1</a:t>
            </a:r>
          </a:p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(task 内常驻)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6D92E-FD45-4E76-8602-526DC31B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F37E5E-E27C-4091-93A3-C876CA24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K/V GM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E17B9-1345-4897-98E9-2C342BF9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K/V L1</a:t>
            </a:r>
          </a:p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(key block)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67425F-1EF9-4388-A7A1-84A5153D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80975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ED9F44-1EF3-44D4-9CEE-5BE312B6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52412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6BF5AB-71A6-4CF3-BB5C-62058BA9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38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计算与布局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CE1640-E9F5-41D4-BA51-AFEF8B7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3F86E7-F2FD-4F5F-826E-3EA64AE1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QK Cube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DB083-B96E-4DA3-AC38-919B7946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 × K → score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ACF084-42F0-478D-B551-0701BD64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717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Q + K/V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1B295E-687F-4BCB-A204-C86692FF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527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282FCE-9F6F-433D-B542-65909C2C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27F616-4BF0-4745-BA0E-90EC8628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score UB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800EB8-00CC-4FEF-9F01-E68824FC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bias + softmax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A8F63A-D804-49F0-A2DC-5DCDF227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08082C-3B74-4A69-A98B-BE964534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287B69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C0C68D-76BC-44AC-BE12-5726C021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P NZ UB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797B74-C066-44DF-B09C-18E6A4D3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概率块留在片上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C148A4-3BA7-4B33-8502-30F98EC0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279255-8EB6-4F3F-8041-D5245AE4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D3629-E765-4DB9-ABAA-A6DD59EC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PV Cube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D4D2EC-E947-4B8A-B498-D0FA6F6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 × V → 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71AA1C-8AEB-4219-A8B8-DE0A943D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B11C98-7EE8-49B7-9225-4EE8DD54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A"/>
          </a:solidFill>
          <a:ln xmlns:a="http://schemas.openxmlformats.org/drawingml/2006/main" w="9525">
            <a:solidFill>
              <a:srgbClr val="B7671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C7E588-7F74-442D-B904-C4589797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67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76714"/>
                </a:solidFill>
                <a:latin typeface="Microsoft YaHei"/>
                <a:ea typeface="Microsoft YaHei"/>
                <a:cs typeface="Microsoft YaHei"/>
              </a:rPr>
              <a:t>rescale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E16CCC-28EA-4DCB-9676-06BE08B4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normalize → Output GM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C7F685-53F4-4D50-B482-C49FC8AA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31F740-F3DD-4654-A9F0-6566103C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3D764E-F186-42B2-977B-EF6D495F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71C46B-A788-4BDE-A2B9-E77B90BE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75892B-36C1-49A0-BC45-AF5A2D72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6F9B42-DFFB-45F0-BE65-2F157925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434A3C-7BC4-4CD3-AC61-0C687A2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B69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511C49-D034-46F8-A7F5-D7C08E66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718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EA066A-202D-4BB5-8E32-222422C7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99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编号与上方流程节点一一对应：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BBA2958-5C40-4E6A-84D8-73567FC8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BD0D71-9DA0-4F81-8AF4-90837577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① bias 分支索引（score UB）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F92442-619C-40EF-9606-28180208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key-only 索引外提；side=64 走 BRC/UNPK 连续读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4C15EA-FBC9-48A2-8AE3-322C853A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75957F-A2D8-47F1-9083-3CE38C72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② P 布局中转（P NZ UB）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BB3C94B-1C53-4136-BBD9-3B1A446D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softmax 直接 vsstb 写 NZ，省掉 ND→NZ staging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869A62-5862-45A5-827D-ED747C1F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287B69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1A0237-2AC9-4B20-AB86-23210689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③ C / V 交接（QK → PV）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484C9B-FD30-4CF8-912D-8390C8E2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QK、softmax、PV、rescale 按 key block 交错执行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DE225C-1823-4E01-9A6D-F420C5A6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95825"/>
            <a:ext cx="11277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9D33572-E160-4E34-9A76-5E1EE821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089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讲解抓手：Q 与 bias 表跨 key block 复用，K/V 随块流入；P 只在片上服务当前 PV，不经过 GM。</a:t>
            </a:r>
          </a:p>
        </p:txBody>
      </p:sp>
    </p:spTree>
    <p:extLst>
      <p:ext uri="{BB962C8B-B14F-4D97-AF65-F5344CB8AC3E}">
        <p14:creationId xmlns:p14="http://schemas.microsoft.com/office/powerpoint/2010/main" val="17412287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E105F-DEA3-4B75-8363-580E3F92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C62FB-E091-44DC-9A44-A1C997CA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65AE2-81D8-4311-9B94-EE2F28C3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原始实现伪代码：key 循环全串行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4366E-C545-4112-BE9E-7ECC077C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以下为结构示意，省略宏、掩码与同步细节，不能独立执行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D012B-D250-4512-89E3-EBF134A4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D5148-B346-4985-801C-E4B4D4D0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5ADFD-5C1A-4977-B7D0-5B9DB8EC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368B3-C0E5-4FCC-AC65-639FB920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c3ed0988a4fc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F9532-9C1C-4C8B-9C73-4C6946A5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112776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04976-4133-4DDC-9049-EE1DFE2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571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DFECC-4509-47C8-B142-16451E01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24025"/>
            <a:ext cx="108775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T.Kernel(num_cores) as core_id: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task 序幕：Q 与两张 bias 表进入片上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task_id in T.Persistent(...):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Q_L1 = copy(Q[task_id])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REL_H_UB, REL_W_UB = dual_copy(REL_H, REL_W)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每个 key block 依次完成五段工作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key_block in T.serial(key_blocks):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K_L1, V_L1 = copy(K[key_block]), copy(V[key_block])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QK(Q_L1, K_L1 → score_L0C)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score_UB = dual_copy(score_L0C)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bias_and_ordinary_softmax(score_UB → prob_UB)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P_L1 = dual_copy(prob_UB)  # 当前路径：ND→NZ 中转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PV(P_L1, V_L1 → out_L0C)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rescale(dual_copy(out_L0C))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task 收尾：归一化后写回 GM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normalize_and_writeback(Output[task_id])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B57F5-5EDF-427E-9763-7F4E31BA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五段顺序执行：K/V 搬入、QK、bias + softmax、PV、rescale</a:t>
            </a:r>
          </a:p>
        </p:txBody>
      </p:sp>
    </p:spTree>
    <p:extLst>
      <p:ext uri="{BB962C8B-B14F-4D97-AF65-F5344CB8AC3E}">
        <p14:creationId xmlns:p14="http://schemas.microsoft.com/office/powerpoint/2010/main" val="1302558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3DB1B-9A96-4F41-B335-2A625FEE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6AF7C-E0D5-4BBA-BD7E-2537E31F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F2EA3-A4EF-4EF6-AB7E-31731F0B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初始 Profile：Vector 忙，但端到端时延仍高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3D482-E153-41B4-92E1-9CA30A39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单看 vec_ratio 会误判；还要结合指令账和关键核时间线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0F473-225A-40FE-838B-3484CA1D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A43D1-C28D-42C7-8128-0B1CD75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44463-04EE-439D-8E72-40A527DD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606B0-2C93-49C3-A350-81AD95E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bddd3e4e0484b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7145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3578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mad / 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0.051 / 0.147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0.058 / 0.112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 / 0.070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2E14-1A94-43DA-B3C2-056ED151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0525"/>
            <a:ext cx="847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S=4096 的 AIV 指令分解（每 key 块、每 AIV）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457200" y="4667250"/>
          <a:ext xmlns:a="http://schemas.openxmlformats.org/drawingml/2006/main" cx="112776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143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ND→NZ 重排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rescale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20583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C1D54-0759-4B3F-B60C-CF21658A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66179-025B-47D5-9E96-983C3DCB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F7C88-A1E5-4ED4-9AD7-BEB9F874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生成代码确认三处可消除的开销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2F624-6C17-4CC3-A3C7-3EA8DE1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先做数据依赖分类，再考虑更深的软件流水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FD79F-01D2-41E8-88B5-D634CE23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0E8D1-8CB9-4527-BBAF-FB1F68BB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45DA1-EDC7-4298-95EB-19647AEA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3BD01-5BC0-4A00-B65C-1CEF92D4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ee9c8fbb34525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85925"/>
          <a:ext xmlns:a="http://schemas.openxmlformats.org/drawingml/2006/main" cx="11277600" cy="3324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6484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生成代码证据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后续手段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key-only 索引逐行重算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 段 19 条中 9 条与 query 行无关；64 行×2 向量反复执行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提到行循环外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side=64 仍走 gather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地址实际是 REL_H 同址、REL_W 连续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编译期连续路径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 先写 ND 再转 NZ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条重排指令 + 16 KB staging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 直写 NZ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T.serial 逐块串行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K/V、QK、softmax、PV、rescale 无跨块重叠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T.Pipelined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2145D-609E-4671-B9FA-93472FE7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5E033-5569-4D54-B766-5CC3DC04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57825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依赖判据：只依赖 key 的计算提到 query 行循环外；只依赖 query 的计算提到 key 循环外。</a:t>
            </a:r>
          </a:p>
        </p:txBody>
      </p:sp>
    </p:spTree>
    <p:extLst>
      <p:ext uri="{BB962C8B-B14F-4D97-AF65-F5344CB8AC3E}">
        <p14:creationId xmlns:p14="http://schemas.microsoft.com/office/powerpoint/2010/main" val="2688189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07752-8391-4243-B9A3-B9DD3108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D01BC-7847-458E-AA5E-5817613B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第一轮：索引外提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171EE-C805-4DE6-BFFE-23AEEB07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key-only 索引从 64 行循环内提出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88D2C-3C16-4D3E-AA8A-7256A1F4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指令体的数学含义不变，只改变循环层级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4CA87-9C70-4235-91BF-6ADF0A29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1AF68-EB9B-42B7-A65F-DF5EFF46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810A8-6556-4F16-B826-3D911CB7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97E69-4D1A-4593-9EF3-A2F8627C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3805312d4243bf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148BB-9D1E-478D-BDD0-5A2EF610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修改前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4CD6F-B619-44B1-967E-E8784850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391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3D401-452D-469A-A578-6B09B593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D0CA1-A90B-4D7C-A823-E4AF7A2F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91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修改前：key-only 索引在 64 行循环内重复计算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range(64):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v in range(2):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h_idx = vdiv(key_idx, 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w_idx = vsub(key_idx, h_idx*side)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C22AE-8A6A-4A68-B6F6-57047D17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192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修改后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87BF3-F96E-4010-A724-9570AD81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448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CE63C-D97E-4110-99B0-DB2D68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AB5B76-9211-4B6F-969C-55B0B45A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95500"/>
            <a:ext cx="5048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修改后：每个向量只算一次 key-only 索引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v in range(2):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h_idx = vdiv(key_idx, 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w_idx = vsub(key_idx, h_idx*side)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query 行内只保留按行加载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i in range(64):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23B3F-D478-4C9B-974E-10B99EE8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542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FF604-ABD6-4DD7-B654-7ECD0BC4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5124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每 key 块每 AIV 索引指令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18D862-37AB-4494-BB38-FECD1B04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512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1152 → 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5414F9-F49C-4432-8583-D205761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67325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vdiv 是 int16 微码除法，单条代价高于一般向量指令。</a:t>
            </a:r>
          </a:p>
        </p:txBody>
      </p:sp>
    </p:spTree>
    <p:extLst>
      <p:ext uri="{BB962C8B-B14F-4D97-AF65-F5344CB8AC3E}">
        <p14:creationId xmlns:p14="http://schemas.microsoft.com/office/powerpoint/2010/main" val="3113734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9F171-8B2A-4F44-B793-C7938B2A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8C220-23E2-4867-817F-4EB8FD40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第一轮：连续 bias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3A84E-EC6D-4431-89CE-1DEAD673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side=64 时把 gather 改为广播与连续读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EFD6C-2900-498D-8CAC-EB7BD418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64-lane 向量恰好覆盖偏置表的一整行，地址模式本身就是索引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7CC56-5164-401B-8E1D-33928A5C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C25DF-B122-4C64-A14A-7226F635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C079A-D559-4C89-AFF1-4EF6F99F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5F0A4-265E-4526-867A-B85B6CC9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659407d4b4a5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3DCB3-607D-4473-9845-BD35712F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12776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A5EA3-D077-419E-B42F-36E10DEC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57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A9132-AA78-4224-B12B-D5E7F17F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775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side=64：64 个 lane 正好覆盖一行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use_contiguous_rel_bias = side % vector_lanes == 0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vector_id in range(block_N // vector_lanes):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range(rows_per_aiv):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if use_contiguous_rel_bias: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REL_H 广播，REL_W 连续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vcvt(vld(REL_H_UB[i, rel_offset // side],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"BRC_B16"))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vcvt(vld(REL_W_UB[i, rel_offset % side],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"UNPK_B16"))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else: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side=40 跨行回卷，保留 gather 慢路径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vcvt(vgather2(REL_H_UB[i], rel_h_index))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vcvt(vgather2(REL_W_UB[i], rel_w_index))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457200" y="5191125"/>
          <a:ext xmlns:a="http://schemas.openxmlformats.org/drawingml/2006/main" cx="1127760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3302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 个连续 key 的行/列坐标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读取方式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行坐标恒定；列坐标 0..63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BRC_B16 + UNPK_B16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lane 40 后跨行回卷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vdiv/vmul/vsub + vgather2 + 掩码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27051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B4FF1-E419-46B8-8580-4DE8A462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A4D47-9A36-4BC4-8E84-2CC71E6E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第一轮：compact NZ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F07C7-5E6B-4CC9-8F4C-050AACBA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softmax 直接写出 PV 所需的 NZ 布局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307B0-E1A0-4D5A-9905-1D986091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利用 BF16 even/odd 的低高半字和散写，寄存器内完成布局合成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C98FB-401E-48C8-AD82-F1D3F35E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DA77F-5FBC-4ACB-94A2-6263FC58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1C1C1-C65D-4C39-A9EF-1EF4A2A5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C0264-A1C6-43E1-8697-408BE87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aec228ec646c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76B11-5E97-4904-BD2B-EC846486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112776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40DAD-C30B-4240-A2CF-D8132287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571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5ADAA-8195-431A-9973-F3095531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108775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even / odd 分别落到 32-bit lane 的低 / 高 16 位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even_bf16 = vcvt(prob_even, "bfloat16", part=0)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odd_bf16  = vcvt(prob_odd,  "bfloat16", part=1)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vor 在寄存器中拼出交错 BF16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merged_bits = vor(reinterpret(even_bf16, "uint16x128"),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reinterpret(odd_bf16,  "uint16x128"))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按 NZ stride 散写，避免 ND→NZ staging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vsstb(reinterpret(merged_bits, "bfloat16x128"),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p_nz_ub[row, 0], nz_stride, softmax_b16)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mem_bar("VST_VLD")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UB→L1 变成连续拷贝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DF902-A26A-40BE-B5B7-FFCDF703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原路径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93692E-23B1-424E-90F0-1FAAB390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81625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ND 概率写 UB → dual_copy 中 ND→NZ 重排 → P L1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6567F-149B-4128-9357-BA08E3C9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新路径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C2429-299D-4279-A2CA-74C423AC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381625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vcvt(part=0/1) → vor → vsstb 直写 NZ → 纯连续拷贝</a:t>
            </a:r>
          </a:p>
        </p:txBody>
      </p:sp>
    </p:spTree>
    <p:extLst>
      <p:ext uri="{BB962C8B-B14F-4D97-AF65-F5344CB8AC3E}">
        <p14:creationId xmlns:p14="http://schemas.microsoft.com/office/powerpoint/2010/main" val="4813105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98C2C-FE75-4261-8D91-629CC48F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D5C8B-F273-466A-B373-A06E7192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第一轮：compact NZ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3BC89-79F0-445A-83B0-16FD84FE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compact 路径有双遍 softmax 成本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A1E472-4415-4A20-963E-8F73CFF2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因此只在 key_block_count ≥ 13 时启用，短序列保留 ordinary 单遍路径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73561-3040-4961-B03E-3E142738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BC14B-A432-486C-B26D-BCA876AB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B0035-BAEB-4DB4-B7A4-E6CF9D6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DDCB2-6A58-4E41-BBD6-198467D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22a554c0e140c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19250"/>
          <a:ext xmlns:a="http://schemas.openxmlformats.org/drawingml/2006/main" cx="112776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5429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ordinary 路径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路径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单遍在线 softmax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第一遍 row-max；第二遍 exp、写盘、求和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概率写出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BF16 按 ND 写 prob_ub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even/odd cast + vor + vsstb 直写 NZ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布局转换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dual_copy ND→NZ，128 指令 + 16 KB staging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寄存器内合成，无单独重排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UB→L1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拷贝时处理布局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NZ 注解，纯连续搬运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S=196，2 个 key 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S=1600/4096，13/32 个 key 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9819E-F889-4716-B2B1-1B22E2F5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81600"/>
            <a:ext cx="112776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895D4-5601-4C0A-AE92-88AECDAA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625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取舍：短循环中双遍开销摊不回；大 shape 的 Vector 饱和，省掉中转更有价值。</a:t>
            </a:r>
          </a:p>
        </p:txBody>
      </p:sp>
    </p:spTree>
    <p:extLst>
      <p:ext uri="{BB962C8B-B14F-4D97-AF65-F5344CB8AC3E}">
        <p14:creationId xmlns:p14="http://schemas.microsoft.com/office/powerpoint/2010/main" val="10856747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9A3EB-EBCC-4234-B50F-C9754FFA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87929-65BF-4EA0-B021-CD18390F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第一轮：实测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495F9-BA53-4408-8136-71858C42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数据流重构贡献了累计收益的大头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2DDB7-CEEE-409E-BE66-5B4A9ED8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三项改动叠加，并为中长序列打开基础软件流水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6CDF4-433F-409D-9EC3-AFC2FF54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7E763-41DA-47C0-8963-CD28DED5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BED64-4B15-43B1-8B0D-5CA7FEAB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E5CCB-EF6D-4C03-A67A-354B19FD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1ddbcc5f945d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66875"/>
          <a:ext xmlns:a="http://schemas.openxmlformats.org/drawingml/2006/main" cx="112776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27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 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×2.35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×4.54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×7.25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 原始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307019-5E9E-48C0-844B-BA0D109E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277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9DA9E-A7C8-433C-B5B4-1528BF3D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67325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S=4096 vec_ratio 从 0.878 降至 0.812，同时 TaskDuration 大降：Vector 冗余少了，关键路径转向 C/V 交接。</a:t>
            </a:r>
          </a:p>
        </p:txBody>
      </p:sp>
    </p:spTree>
    <p:extLst>
      <p:ext uri="{BB962C8B-B14F-4D97-AF65-F5344CB8AC3E}">
        <p14:creationId xmlns:p14="http://schemas.microsoft.com/office/powerpoint/2010/main" val="2331278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D03C4-D967-4456-BC04-D9309754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42C0E-E289-47D4-BCF7-77D2F83E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第二轮：流水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52A5C-0D62-49BC-B441-B51B7970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第一轮后各管线仍存在可吸收的交接空档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1E3CC-3225-43F1-9027-15B5612D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S=4096 的 2-stage 版本中，AIV vec 占比 70.2%，AIC 四管线也未同时吃满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8259E-0E76-4075-A5E1-61D2C521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78460-F820-461D-87A4-80ABD5D9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01C58-B7E4-45D9-9916-20432BB7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AEBAA-C7F8-4329-8DFE-C0D28217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b43179113439c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457200" y="1704975"/>
          <a:ext xmlns:a="http://schemas.openxmlformats.org/drawingml/2006/main" cx="523875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</a:tblGrid>
              <a:tr h="5181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scalar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16.9%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"/>
          <p:cNvGraphicFramePr/>
          <p:nvPr/>
        </p:nvGraphicFramePr>
        <p:xfrm>
          <a:off xmlns:a="http://schemas.openxmlformats.org/drawingml/2006/main" x="6019800" y="1704975"/>
          <a:ext xmlns:a="http://schemas.openxmlformats.org/drawingml/2006/main" cx="57150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</a:tblGrid>
              <a:tr h="5181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15.0%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49.6%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fixpipe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27.3%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1D73C-8982-494F-A8AC-5332E1B5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3450"/>
            <a:ext cx="1127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判断：空档主要发生在 Cube、Vector 与搬运之间的衔接，值得增加可并行的 key block 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87B6B-DB8B-4915-AE35-D1B5C46E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三个 shape 的 key 块数：S=196 为 2，S=1600 为 13，S=4096 为 32。</a:t>
            </a:r>
          </a:p>
        </p:txBody>
      </p:sp>
    </p:spTree>
    <p:extLst>
      <p:ext uri="{BB962C8B-B14F-4D97-AF65-F5344CB8AC3E}">
        <p14:creationId xmlns:p14="http://schemas.microsoft.com/office/powerpoint/2010/main" val="10088696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1BD23-5ABE-49B2-A8E4-A76F9D6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358E4-2F41-474D-87EB-6D6823AD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第二轮：流水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6555A-4395-4785-B659-3688EDA3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流水深度由 key 块数在编译期分派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D7CD9-4F6F-4378-9291-C05EF758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S=196 使用 2-stage，S=1600/4096 使用 3-stage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C0CCF-3AF7-4BBF-9ACB-146D9502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89E88-C30D-4555-8188-6551C050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7A6BC-0C27-43EE-A44D-ACF7ECDC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219B5-CEAB-4D7A-80C9-1883D36D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3c11b618b4bb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D3843-9FBB-4B7C-8A2D-8384524F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38300"/>
            <a:ext cx="112776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14E72-6F2B-44D7-AEAB-D9D63F64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38300"/>
            <a:ext cx="571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29A7-24E0-4D51-9990-0F189F61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81175"/>
            <a:ext cx="108775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key block 少：2-stage；块数达到 13：3-stage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PIPELINE_3STAGE_MIN_KEY_BLOCKS = 13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COMPACT_NZ_MIN_KEY_BLOCKS = 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_pipeline_stages(seq_len: int) -&gt; int: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return 3 if _key_block_count(seq_len) &gt;= 13 else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循环体不变，改变的是缓冲和调度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key_block in T.Pipelined(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key_blocks, num_stages=pipeline_stages,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annotations={"enable_offset": True}):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...  # QK、bias + softmax、PV、rescale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457200" y="4895850"/>
          <a:ext xmlns:a="http://schemas.openxmlformats.org/drawingml/2006/main" cx="11277600" cy="1276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3190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 blocks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流水变化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→ 2-stage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→ 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→ 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→ 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274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22A33-D4BB-4325-9D0E-92EA0822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80776-C9B2-497C-9252-980B1C32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第二轮：时间线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6A4A6-632A-494E-A145-C2DACF86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3-stage 让 Cube 与两路 AIV 深度交错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FCAEA7-8409-44CF-A1E1-E20D21E9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两张图来自同机同批采集，代码相同，仅 stage 数不同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6AE4-8946-4080-951C-06A323B8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CDF5D-4612-4C7A-9B9C-AB0D5449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5B980-08C9-4D2B-ADD9-90FE466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009B6-7CB9-4163-80A8-D940BCB8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1e78bc8e1473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24a2a1bc24c70"/>
          <a:stretch xmlns:a="http://schemas.openxmlformats.org/drawingml/2006/main"/>
        </p:blipFill>
        <p:spPr>
          <a:xfrm xmlns:a="http://schemas.openxmlformats.org/drawingml/2006/main">
            <a:off x="922734" y="1619250"/>
            <a:ext cx="4479131" cy="307657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e6ef413624d85"/>
          <a:stretch xmlns:a="http://schemas.openxmlformats.org/drawingml/2006/main"/>
        </p:blipFill>
        <p:spPr>
          <a:xfrm xmlns:a="http://schemas.openxmlformats.org/drawingml/2006/main">
            <a:off x="7187502" y="1619250"/>
            <a:ext cx="3627246" cy="30765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8CC54-5E55-4C3E-8C20-DD09F80E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8155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2-stage：346.7 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C6772-348F-43FD-B025-BA589412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8155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3-stage：287.9 us（快 17.0%）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770E4-B420-4D45-84CB-89B3F397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62635-B6AE-4D81-9210-56FD614C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48300"/>
            <a:ext cx="1081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读图重点：3-stage 中 Cube 批次更密，AIV 等待区间更短；收益来自跨块重叠。</a:t>
            </a:r>
          </a:p>
        </p:txBody>
      </p:sp>
    </p:spTree>
    <p:extLst>
      <p:ext uri="{BB962C8B-B14F-4D97-AF65-F5344CB8AC3E}">
        <p14:creationId xmlns:p14="http://schemas.microsoft.com/office/powerpoint/2010/main" val="2586418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199336-26FE-480F-86B2-6ADED694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9C966-25E3-48CF-9AB8-1369C73C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第二轮：单核组证据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2257A-42A7-401F-92F9-1EBEA6C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3-stage 后关键 AIV Vector 基本连续工作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A127B-ECCF-42C8-828D-F5692B1D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S=4096，core0 的 1 AIC + 2 AIV，整 kernel 墙钟 289.8 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96C7F-08E9-4E4C-A1B5-EE99D717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FFE1C9-028C-4A4A-832F-93A92F8D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0BC02-C201-47D2-A0F6-6934A278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92026-EE6E-4D28-A09D-57792AAF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fd0d1a395443e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09725"/>
          <a:ext xmlns:a="http://schemas.openxmlformats.org/drawingml/2006/main" cx="11277600" cy="3590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488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事件数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忙碌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占墙钟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165.1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87.8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30.3%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386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170.9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278.0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128.9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44.5%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277.7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90EB9-8830-4F52-AB8D-A3AEB842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AIC 各管线可同时运行；AIV 的 36 个长 VECTOR 事件几乎填满整段墙钟。</a:t>
            </a:r>
          </a:p>
        </p:txBody>
      </p:sp>
    </p:spTree>
    <p:extLst>
      <p:ext uri="{BB962C8B-B14F-4D97-AF65-F5344CB8AC3E}">
        <p14:creationId xmlns:p14="http://schemas.microsoft.com/office/powerpoint/2010/main" val="11433031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F6059-2616-4D8A-9231-49CDD20A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AA2E-F66A-4660-905E-EA1E124A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第三轮：成本模型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2620A-1A59-497A-AD17-D047F94F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latency hint 修正 ordinary softmax 的调度估计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BD8F2-2972-4AEF-880A-4CF48A69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指令体逐条不变，变的是调度器产生的 stage 结构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BB71F-8B96-4D21-9B9C-2A674843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4EBDB-8869-4D36-AF5D-56D07C48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19554-D636-4BE6-B4B7-A6C3C915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3B3D2-1159-4C34-B087-069899BC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2e54c4d1d4a3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211FF-6EAC-4BAB-BCF5-8CB1AE3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1277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A6281-BDA8-448D-890B-9B947D88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980CF-A028-4D7A-B7C1-4C2E95C3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775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@T.macro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ordinary_softmax(score_ub, prob_ub, max_ub, sum_ub, alpha_ub):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约 1344 条 SIMD ops / key block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948 是候选延迟估计，不是实测等待时间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只改变调度，不改变指令体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with T.SimdVF(latency=948):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...  # 原 softmax 指令体不变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BCA5FF-1E9D-478C-911D-503EF03B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0AE09-1146-4CA3-8A67-267CEAA5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提示前中位数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F5B8A-FCF6-4666-A53E-E99D32BD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13.3 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CE7FD-B1FF-40F9-886B-9F5C5104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195DF-1FAE-4118-B740-6410FF42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提示后中位数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7E812E-E245-45B7-A424-C6A9CC71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12.1 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E23B0-2A97-4F10-A925-EF1C49E3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9625"/>
            <a:ext cx="3467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B6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301E48-B532-41C5-A376-E179A8C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05350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独立复测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51D6B8-1E9A-40B2-AB59-8C2D6E63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43475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次 / +9.0%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2D8FCF-091A-406E-A006-CA9A63DE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864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948 是候选延迟估计，不是实测等待时延。</a:t>
            </a:r>
          </a:p>
        </p:txBody>
      </p:sp>
    </p:spTree>
    <p:extLst>
      <p:ext uri="{BB962C8B-B14F-4D97-AF65-F5344CB8AC3E}">
        <p14:creationId xmlns:p14="http://schemas.microsoft.com/office/powerpoint/2010/main" val="7759838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DC2BD-5B7F-4A2C-837A-DA4EE6D4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327B6-5529-4BF4-B26D-EBB46DB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总收益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60EC6-6C89-4C6E-9962-778DEEAA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逐轮时延演进与累计加速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85A20-7E0B-416E-8C3A-C5A0F2B7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这里保留源文档的三 case 归一化图，并列出原始绝对时延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DD59F-D0CF-4319-AD8A-0B987A0E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193D0-2C38-488B-8318-3C7CEBCE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B42CF-A345-405C-873F-1EDCDB33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EE8E3-D4CF-453E-A7FE-84871AE1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05b837eba462d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7e7e44d5e4f29"/>
          <a:stretch xmlns:a="http://schemas.openxmlformats.org/drawingml/2006/main"/>
        </p:blipFill>
        <p:spPr>
          <a:xfrm xmlns:a="http://schemas.openxmlformats.org/drawingml/2006/main">
            <a:off x="554880" y="1619250"/>
            <a:ext cx="5948265" cy="32385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6905625" y="1619250"/>
          <a:ext xmlns:a="http://schemas.openxmlformats.org/drawingml/2006/main" cx="4829175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07294"/>
                <a:gridCol w="1207294"/>
                <a:gridCol w="1207294"/>
                <a:gridCol w="1207294"/>
              </a:tblGrid>
              <a:tr h="6477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第二轮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第三轮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15E9B7-58D2-420C-A6DE-C24F3592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最终累计加速：S=196 ×2.74；S=1600 ×5.24；S=4096 ×8.75。</a:t>
            </a:r>
          </a:p>
        </p:txBody>
      </p:sp>
    </p:spTree>
    <p:extLst>
      <p:ext uri="{BB962C8B-B14F-4D97-AF65-F5344CB8AC3E}">
        <p14:creationId xmlns:p14="http://schemas.microsoft.com/office/powerpoint/2010/main" val="7710465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055D9-5EB4-460D-9FCA-7A9B7B6E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AE459-401E-4F80-938F-1666F0B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最终状态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2AFC8-B147-40E7-86F8-596C46D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不同 shape 的剩余瓶颈不同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0731F2-E28B-4E3A-AC57-976CF459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完成流水后，继续优化要按各 case 的关键路径分别处理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33AE4-101E-4B71-A198-F850BF3D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09554-C431-41C8-9A6A-A149AA8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80DF2-CAEA-43B4-9F75-39A0C34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3AD18-899C-47CE-9F1F-AF8D1D4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857ae085d44b5b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457200" y="1619250"/>
          <a:ext xmlns:a="http://schemas.openxmlformats.org/drawingml/2006/main" cx="1127760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81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最终时延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 46.2%；aiv_time 7.5→13.4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固定同步 + 核间负载不均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mte2 63.9%；带宽仅 3.6%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128B strided burst 结构问题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 96.6%；关键核空隙仅 2.6%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 指令吞吐主导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8E635-F167-461B-A03D-4F23E555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S=4096：GM→L1 流量 399 MB，带宽占用 6.9%，访存不是当前约束。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68DA7-F54C-4563-A17A-F389D99E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339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S=1600：平均传输粒度仅 0.41 KB，L2 hint 与 group_size A/B 未获益。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A11EA-EE8B-4C04-AEE5-26B1F70F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S=196：48 task 分到 36 组，最快核 7.5 us、最慢核 13.4 us。</a:t>
            </a:r>
          </a:p>
        </p:txBody>
      </p:sp>
    </p:spTree>
    <p:extLst>
      <p:ext uri="{BB962C8B-B14F-4D97-AF65-F5344CB8AC3E}">
        <p14:creationId xmlns:p14="http://schemas.microsoft.com/office/powerpoint/2010/main" val="21009651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41D87-8DBA-4E80-AA9D-9F11D6F4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FCA15-600A-4310-B784-05B04D6F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方法复用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07682-E41A-4DEC-BFD0-D80C6C11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症状、证据与判断的速查表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44BA7-FAE6-4837-9E2D-C4863A58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72 核均值 ratio 与关键核 trace 占空必须按同一口径比较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15AC9-579D-4743-9233-BBAA140C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4D348-A940-4851-9E18-28CE5D47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FA873-2F46-439F-B548-38E384DF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B1EA9-728A-4CA5-A1B8-EB2A71C2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4ae9d60aa4fc2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38300"/>
          <a:ext xmlns:a="http://schemas.openxmlformats.org/drawingml/2006/main" cx="112776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096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症状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先看什么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本例读数与结论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主导 pipe 占满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关键核 trace 空隙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 仅 7.4 us / 2.6% 空隙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时延降、vec_ratio 也降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 × vec_ratio + schedule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0.878→0.812，关键路径转到交接；3-stage 后 0.968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怀疑重叠不足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四管 ratio 之和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为 79%；S=4096 为 152%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搬运占比高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 × 带宽 × 平均粒度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63.9% × 3.6% × 0.41 KB，结构问题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核间忙闲不均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aiv_time min/avg/max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最快 7.5 us、最慢 13.4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B836A-C4DA-4E4A-B266-99AA5DC3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判定顺序：Profile 定关键路径 → 生成代码找冗余 → trace 验证重叠 → 同条件 A/B 决策。</a:t>
            </a:r>
          </a:p>
        </p:txBody>
      </p:sp>
    </p:spTree>
    <p:extLst>
      <p:ext uri="{BB962C8B-B14F-4D97-AF65-F5344CB8AC3E}">
        <p14:creationId xmlns:p14="http://schemas.microsoft.com/office/powerpoint/2010/main" val="4507562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07585-FD6C-4197-ABD5-5CF68D60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87A0A-7FA3-4215-8CCB-FEF01C82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方法复用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99D8B-4060-445F-885F-5DAE032A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编译器注解与代理指标都要经过上板验证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33D49-1237-48A3-B14D-0EF7EAB7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写了注解、减少了指令或加深了流水，都不能直接等同于时延收益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AEF00-5ADE-4378-983D-ABCB4397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21338-C573-4396-A60F-1D00723C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0C6AE-31FC-4278-8110-AC9CC8B0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2FB7B-2D05-496D-85DC-C08A6EDD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e2e54de5443b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38300"/>
          <a:ext xmlns:a="http://schemas.openxmlformats.org/drawingml/2006/main" cx="112776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1118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尝试/观察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生成代码或 A/B 结果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教训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multi_buffer_eligible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本版本被调度器忽略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 lowering 是否消费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外层裸 num_stages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生成代码逐行未变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 buffer version / schedule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嵌套 annotate_buffer_versions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版本膨胀；T.fill 触发 lowering 断言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版本相关，控制改动范围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vmadd / vselr / 4-stage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指令更少或流水更深，但未必更快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代理指标只用于提出假设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索引守卫实验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→ 346.3 us，中性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 有空档时减指令不一定兑现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F2797-5426-4A62-8BB5-480AC4B7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11277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5FDD8-9D82-4960-9D17-449647DC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48325"/>
            <a:ext cx="10763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一次只改一个假设，保存生成代码、Profile 与同条件 A/B。</a:t>
            </a:r>
          </a:p>
        </p:txBody>
      </p:sp>
    </p:spTree>
    <p:extLst>
      <p:ext uri="{BB962C8B-B14F-4D97-AF65-F5344CB8AC3E}">
        <p14:creationId xmlns:p14="http://schemas.microsoft.com/office/powerpoint/2010/main" val="18243725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B7999F-735F-45F1-B59F-1554EC0D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3179A-1CA8-4111-BFA4-16CB07FF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收束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26E58-0D62-469D-BBA8-CF783D95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这次优化过程可以复用的四个动作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98375-2F4A-4291-B480-93818ADA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面向下一个 Cube/Vector 混合算子，按证据顺序推进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A4BA84-DFE8-41BB-824A-28167B6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F4BCB-9F87-4BB3-8AB3-43987737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C8F76-8617-486E-8C57-6512083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5F7BA-21EE-470E-9276-E36C02DB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620e9e6df44b2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A3B54-9DB4-47D6-9CFF-9E62F05C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0ED03-390B-4CCA-93DA-A42041F4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9545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按依赖外提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F6425-7239-4DE4-9860-0E90DE52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key-only 索引从行循环外算一次，先消除确定的重复工作。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E4CD75-CC6A-4644-A30B-D00C79FF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63150-7E92-4D75-8D19-76C2F427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5B721-0109-4500-A2DF-6FA75B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倒推中间布局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68579-C50B-4029-B5D7-7049E50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5272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由 PV 的 NZ 输入要求反推 softmax 写出，去掉 ND→NZ 中转。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75AD3-39F2-4F69-B979-487AB7A3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10585-C236-4FBD-B21B-73818FE0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5657EB-0C3E-4995-BBE1-17F2E00D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00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 shape 设流水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75275-7F73-44AF-96DA-85F51902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用 key 块数决定 2/3-stage，再通过 PipeTimeline 验证交错。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D50B54-E24A-4C25-A3A5-C1F9C1E4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ADEF95-8C77-474A-8C17-8046D9D8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672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4E95E6-E53E-40E3-A557-23C4680E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6727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校准成本模型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750535-5264-4FA1-95C2-19CDC7F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6727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指令体不变但 schedule 不佳时，给瓶颈 scope 一个可追溯的 latency hint。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76521-846C-445A-91CC-3EA46A2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72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A00965-F6B6-403B-8F58-46169ADD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关键顺序：数据流冗余 → C/V 流水空档 → 调度成本模型。</a:t>
            </a:r>
          </a:p>
        </p:txBody>
      </p:sp>
    </p:spTree>
    <p:extLst>
      <p:ext uri="{BB962C8B-B14F-4D97-AF65-F5344CB8AC3E}">
        <p14:creationId xmlns:p14="http://schemas.microsoft.com/office/powerpoint/2010/main" val="12548265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253ea2664b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229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2026-09-20T02:03:09.7160000Z</dcterms:created>
  <dcterms:modified xsi:type="dcterms:W3CDTF">2026-09-20T02:03:09.7160000Z</dcterms:modified>
</coreProperties>
</file>