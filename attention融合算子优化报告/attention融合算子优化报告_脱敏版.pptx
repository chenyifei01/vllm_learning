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7eb91e341424c85" /><Relationship Type="http://schemas.openxmlformats.org/officeDocument/2006/relationships/extended-properties" Target="/docProps/app.xml" Id="R4c72c4bcf3f541a0" /><Relationship Type="http://schemas.openxmlformats.org/officeDocument/2006/relationships/officeDocument" Target="/ppt/presentation.xml" Id="Rd18af074ac2d4a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62b0e4eee7428b"/>
  </p:sldMasterIdLst>
  <p:notesMasterIdLst>
    <p:notesMasterId xmlns:r="http://schemas.openxmlformats.org/officeDocument/2006/relationships" r:id="R878abc368f1d455e"/>
  </p:notesMasterIdLst>
  <p:sldIdLst>
    <p:sldId xmlns:r="http://schemas.openxmlformats.org/officeDocument/2006/relationships" id="256" r:id="R941e82ddac854242"/>
    <p:sldId xmlns:r="http://schemas.openxmlformats.org/officeDocument/2006/relationships" id="257" r:id="R01e4b8ce2f344794"/>
    <p:sldId xmlns:r="http://schemas.openxmlformats.org/officeDocument/2006/relationships" id="258" r:id="R7fd64fe33d4c42b5"/>
    <p:sldId xmlns:r="http://schemas.openxmlformats.org/officeDocument/2006/relationships" id="259" r:id="R81873e82bf2646b6"/>
    <p:sldId xmlns:r="http://schemas.openxmlformats.org/officeDocument/2006/relationships" id="260" r:id="R36487a361fc248c4"/>
    <p:sldId xmlns:r="http://schemas.openxmlformats.org/officeDocument/2006/relationships" id="261" r:id="R8d9a17d1ee574170"/>
    <p:sldId xmlns:r="http://schemas.openxmlformats.org/officeDocument/2006/relationships" id="262" r:id="R930c29792a8e41b0"/>
    <p:sldId xmlns:r="http://schemas.openxmlformats.org/officeDocument/2006/relationships" id="263" r:id="R8134bc5dd6044d86"/>
    <p:sldId xmlns:r="http://schemas.openxmlformats.org/officeDocument/2006/relationships" id="264" r:id="R27dbce3471814ee4"/>
    <p:sldId xmlns:r="http://schemas.openxmlformats.org/officeDocument/2006/relationships" id="265" r:id="R931f4c26a9174f17"/>
    <p:sldId xmlns:r="http://schemas.openxmlformats.org/officeDocument/2006/relationships" id="266" r:id="Rc1ce96686f1e4b8f"/>
    <p:sldId xmlns:r="http://schemas.openxmlformats.org/officeDocument/2006/relationships" id="267" r:id="R00db0a753bc34fdf"/>
    <p:sldId xmlns:r="http://schemas.openxmlformats.org/officeDocument/2006/relationships" id="268" r:id="R9faa3128524241de"/>
    <p:sldId xmlns:r="http://schemas.openxmlformats.org/officeDocument/2006/relationships" id="269" r:id="R43691faed07b4b3a"/>
    <p:sldId xmlns:r="http://schemas.openxmlformats.org/officeDocument/2006/relationships" id="270" r:id="Rf35683960a754782"/>
    <p:sldId xmlns:r="http://schemas.openxmlformats.org/officeDocument/2006/relationships" id="271" r:id="Rd7d2a580459d42f8"/>
    <p:sldId xmlns:r="http://schemas.openxmlformats.org/officeDocument/2006/relationships" id="272" r:id="Rac2a30311e0e4263"/>
    <p:sldId xmlns:r="http://schemas.openxmlformats.org/officeDocument/2006/relationships" id="273" r:id="R28aa77c63b8f4a5d"/>
    <p:sldId xmlns:r="http://schemas.openxmlformats.org/officeDocument/2006/relationships" id="274" r:id="Rd40ce71922f6454d"/>
    <p:sldId xmlns:r="http://schemas.openxmlformats.org/officeDocument/2006/relationships" id="275" r:id="R469508aedaa643ab"/>
    <p:sldId xmlns:r="http://schemas.openxmlformats.org/officeDocument/2006/relationships" id="276" r:id="R5798a0929cd04013"/>
    <p:sldId xmlns:r="http://schemas.openxmlformats.org/officeDocument/2006/relationships" id="277" r:id="Rc85e03bfdd00470c"/>
    <p:sldId xmlns:r="http://schemas.openxmlformats.org/officeDocument/2006/relationships" id="278" r:id="Rac29b343c34e46ad"/>
    <p:sldId xmlns:r="http://schemas.openxmlformats.org/officeDocument/2006/relationships" id="279" r:id="R70d35bb19a694e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7392c95db4442b" /><Relationship Type="http://schemas.openxmlformats.org/officeDocument/2006/relationships/slideMaster" Target="/ppt/slideMasters/slideMaster1.xml" Id="Rbd62b0e4eee7428b" /><Relationship Type="http://schemas.openxmlformats.org/officeDocument/2006/relationships/notesMaster" Target="/ppt/notesMasters/notesMaster1.xml" Id="R878abc368f1d455e" /><Relationship Type="http://schemas.openxmlformats.org/officeDocument/2006/relationships/presProps" Target="/ppt/presProps.xml" Id="R778a3cd78fb44590" /><Relationship Type="http://schemas.openxmlformats.org/officeDocument/2006/relationships/tableStyles" Target="/ppt/tableStyles.xml" Id="R41f2d3fdf33442cf" /><Relationship Type="http://schemas.openxmlformats.org/officeDocument/2006/relationships/slide" Target="/ppt/slides/slide1.xml" Id="R941e82ddac854242" /><Relationship Type="http://schemas.openxmlformats.org/officeDocument/2006/relationships/slide" Target="/ppt/slides/slide2.xml" Id="R01e4b8ce2f344794" /><Relationship Type="http://schemas.openxmlformats.org/officeDocument/2006/relationships/slide" Target="/ppt/slides/slide3.xml" Id="R7fd64fe33d4c42b5" /><Relationship Type="http://schemas.openxmlformats.org/officeDocument/2006/relationships/slide" Target="/ppt/slides/slide4.xml" Id="R81873e82bf2646b6" /><Relationship Type="http://schemas.openxmlformats.org/officeDocument/2006/relationships/slide" Target="/ppt/slides/slide5.xml" Id="R36487a361fc248c4" /><Relationship Type="http://schemas.openxmlformats.org/officeDocument/2006/relationships/slide" Target="/ppt/slides/slide6.xml" Id="R8d9a17d1ee574170" /><Relationship Type="http://schemas.openxmlformats.org/officeDocument/2006/relationships/slide" Target="/ppt/slides/slide7.xml" Id="R930c29792a8e41b0" /><Relationship Type="http://schemas.openxmlformats.org/officeDocument/2006/relationships/slide" Target="/ppt/slides/slide8.xml" Id="R8134bc5dd6044d86" /><Relationship Type="http://schemas.openxmlformats.org/officeDocument/2006/relationships/slide" Target="/ppt/slides/slide9.xml" Id="R27dbce3471814ee4" /><Relationship Type="http://schemas.openxmlformats.org/officeDocument/2006/relationships/slide" Target="/ppt/slides/slide10.xml" Id="R931f4c26a9174f17" /><Relationship Type="http://schemas.openxmlformats.org/officeDocument/2006/relationships/slide" Target="/ppt/slides/slide11.xml" Id="Rc1ce96686f1e4b8f" /><Relationship Type="http://schemas.openxmlformats.org/officeDocument/2006/relationships/slide" Target="/ppt/slides/slide12.xml" Id="R00db0a753bc34fdf" /><Relationship Type="http://schemas.openxmlformats.org/officeDocument/2006/relationships/slide" Target="/ppt/slides/slide13.xml" Id="R9faa3128524241de" /><Relationship Type="http://schemas.openxmlformats.org/officeDocument/2006/relationships/slide" Target="/ppt/slides/slide14.xml" Id="R43691faed07b4b3a" /><Relationship Type="http://schemas.openxmlformats.org/officeDocument/2006/relationships/slide" Target="/ppt/slides/slide15.xml" Id="Rf35683960a754782" /><Relationship Type="http://schemas.openxmlformats.org/officeDocument/2006/relationships/slide" Target="/ppt/slides/slide16.xml" Id="Rd7d2a580459d42f8" /><Relationship Type="http://schemas.openxmlformats.org/officeDocument/2006/relationships/slide" Target="/ppt/slides/slide17.xml" Id="Rac2a30311e0e4263" /><Relationship Type="http://schemas.openxmlformats.org/officeDocument/2006/relationships/slide" Target="/ppt/slides/slide18.xml" Id="R28aa77c63b8f4a5d" /><Relationship Type="http://schemas.openxmlformats.org/officeDocument/2006/relationships/slide" Target="/ppt/slides/slide19.xml" Id="Rd40ce71922f6454d" /><Relationship Type="http://schemas.openxmlformats.org/officeDocument/2006/relationships/slide" Target="/ppt/slides/slide20.xml" Id="R469508aedaa643ab" /><Relationship Type="http://schemas.openxmlformats.org/officeDocument/2006/relationships/slide" Target="/ppt/slides/slide21.xml" Id="R5798a0929cd04013" /><Relationship Type="http://schemas.openxmlformats.org/officeDocument/2006/relationships/slide" Target="/ppt/slides/slide22.xml" Id="Rc85e03bfdd00470c" /><Relationship Type="http://schemas.openxmlformats.org/officeDocument/2006/relationships/slide" Target="/ppt/slides/slide23.xml" Id="Rac29b343c34e46ad" /><Relationship Type="http://schemas.openxmlformats.org/officeDocument/2006/relationships/slide" Target="/ppt/slides/slide24.xml" Id="R70d35bb19a694e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f4a298212b4bc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6939d288c344bd" /><Relationship Type="http://schemas.openxmlformats.org/officeDocument/2006/relationships/notesMaster" Target="/ppt/notesMasters/notesMaster1.xml" Id="R21b4fd36fe9a4e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de7caa9f2f4419" /><Relationship Type="http://schemas.openxmlformats.org/officeDocument/2006/relationships/notesMaster" Target="/ppt/notesMasters/notesMaster1.xml" Id="R654aac3b45db40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ebda32de03e4172" /><Relationship Type="http://schemas.openxmlformats.org/officeDocument/2006/relationships/notesMaster" Target="/ppt/notesMasters/notesMaster1.xml" Id="R19335242961b4b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31be60b039e49db" /><Relationship Type="http://schemas.openxmlformats.org/officeDocument/2006/relationships/notesMaster" Target="/ppt/notesMasters/notesMaster1.xml" Id="Ra4a6954ddc244e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2d9d3d702c4864" /><Relationship Type="http://schemas.openxmlformats.org/officeDocument/2006/relationships/notesMaster" Target="/ppt/notesMasters/notesMaster1.xml" Id="R121a2579f78145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d790c6ab3945b8" /><Relationship Type="http://schemas.openxmlformats.org/officeDocument/2006/relationships/notesMaster" Target="/ppt/notesMasters/notesMaster1.xml" Id="Rf515f936b69a474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812e1334434609" /><Relationship Type="http://schemas.openxmlformats.org/officeDocument/2006/relationships/notesMaster" Target="/ppt/notesMasters/notesMaster1.xml" Id="R32724d1f97164e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5e487ce6de427a" /><Relationship Type="http://schemas.openxmlformats.org/officeDocument/2006/relationships/notesMaster" Target="/ppt/notesMasters/notesMaster1.xml" Id="R57ef88780e8943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f4a72d41374072" /><Relationship Type="http://schemas.openxmlformats.org/officeDocument/2006/relationships/notesMaster" Target="/ppt/notesMasters/notesMaster1.xml" Id="Rdcb7f565408f4f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a69dbb04d64b7e" /><Relationship Type="http://schemas.openxmlformats.org/officeDocument/2006/relationships/notesMaster" Target="/ppt/notesMasters/notesMaster1.xml" Id="Raa1aad2ae2f249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dac269d9eff4c72" /><Relationship Type="http://schemas.openxmlformats.org/officeDocument/2006/relationships/notesMaster" Target="/ppt/notesMasters/notesMaster1.xml" Id="R55fdcf1db47d4f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69f6237dc6474d" /><Relationship Type="http://schemas.openxmlformats.org/officeDocument/2006/relationships/notesMaster" Target="/ppt/notesMasters/notesMaster1.xml" Id="Rc9db7a52b66c41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94803cf40d94a9e" /><Relationship Type="http://schemas.openxmlformats.org/officeDocument/2006/relationships/notesMaster" Target="/ppt/notesMasters/notesMaster1.xml" Id="Rea0d3652d03f40f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360704320634ad7" /><Relationship Type="http://schemas.openxmlformats.org/officeDocument/2006/relationships/notesMaster" Target="/ppt/notesMasters/notesMaster1.xml" Id="R95781fca45f9492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799aac213624555" /><Relationship Type="http://schemas.openxmlformats.org/officeDocument/2006/relationships/notesMaster" Target="/ppt/notesMasters/notesMaster1.xml" Id="R9e58745a91a44eb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ad33f429cd047ee" /><Relationship Type="http://schemas.openxmlformats.org/officeDocument/2006/relationships/notesMaster" Target="/ppt/notesMasters/notesMaster1.xml" Id="R7e86545c729f49d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aaab502b7d3402f" /><Relationship Type="http://schemas.openxmlformats.org/officeDocument/2006/relationships/notesMaster" Target="/ppt/notesMasters/notesMaster1.xml" Id="R7e377d975cc54e9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8fdf299454469e" /><Relationship Type="http://schemas.openxmlformats.org/officeDocument/2006/relationships/notesMaster" Target="/ppt/notesMasters/notesMaster1.xml" Id="R9417344de5e64e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7ce04219747438d" /><Relationship Type="http://schemas.openxmlformats.org/officeDocument/2006/relationships/notesMaster" Target="/ppt/notesMasters/notesMaster1.xml" Id="Rddf02fab6ca5424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48a36770f494999" /><Relationship Type="http://schemas.openxmlformats.org/officeDocument/2006/relationships/notesMaster" Target="/ppt/notesMasters/notesMaster1.xml" Id="Rd5e03540d4904f7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4d43afb9518e4d30" /><Relationship Type="http://schemas.openxmlformats.org/officeDocument/2006/relationships/notesMaster" Target="/ppt/notesMasters/notesMaster1.xml" Id="R3768d5219edb40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8621d6ed2f94aff" /><Relationship Type="http://schemas.openxmlformats.org/officeDocument/2006/relationships/notesMaster" Target="/ppt/notesMasters/notesMaster1.xml" Id="R5deaf923337e460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9e10fb663374e7e" /><Relationship Type="http://schemas.openxmlformats.org/officeDocument/2006/relationships/notesMaster" Target="/ppt/notesMasters/notesMaster1.xml" Id="R380f8c4b93fb460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531a56531841c4" /><Relationship Type="http://schemas.openxmlformats.org/officeDocument/2006/relationships/notesMaster" Target="/ppt/notesMasters/notesMaster1.xml" Id="Rcf5f493ef32244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讲解要点：交代对象：视觉编码器中的二维相对位置偏置 Attention。报告按问题、改动、实测结果展开。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讲解要点：当前章节：Part 1。用本页快速定位本段内容，再进入后续技术页。</a:t>
            </a:r>
            <a:endParaRPr/>
          </a:p>
          <a:p xmlns:a="http://schemas.openxmlformats.org/drawingml/2006/main">
            <a:pPr>
              <a:buNone/>
            </a:pPr>
            <a:r>
              <a:t>资料：参考模板《规约类算子 Ascend 优化：以 softmax 为例（可编辑）》目录页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讲解要点：交代测试口径。S=side² 分别为 196、1600、4096，block_N=128，因此 key 块数为 2、13、32。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§1、§2.2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讲解要点：解释偏置寻址的关键：key j 映射到二维坐标 (j//side, j%side)。这个地址规律会决定 side=64 是否可用广播与连续读。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§1、§2.1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讲解要点：沿 PNG 的实线从输入走到输出，再解释右侧虚线：key block 级循环复用。强调 Q 和两张 bias 表常驻片上，K/V 与概率块按块流动；P 始终不落 GM。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§2.3；图：onchip_dataflow.png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讲解要点：当前章节：Part 2。用本页快速定位本段内容，再进入后续技术页。</a:t>
            </a:r>
            <a:endParaRPr/>
          </a:p>
          <a:p xmlns:a="http://schemas.openxmlformats.org/drawingml/2006/main">
            <a:pPr>
              <a:buNone/>
            </a:pPr>
            <a:r>
              <a:t>资料：参考模板《规约类算子 Ascend 优化：以 softmax 为例（可编辑）》目录页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讲解要点：重点标出 T.serial、bias_and_ordinary_softmax、ND→NZ dual_copy 三处后续改动的落点。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讲解要点：讲出诊断过程：Vector 比率高，不代表硬件有用计算多；2438 条 bias 指令中含大量行内重复。串行的 C/V 交接也未被隐藏。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讲解要点：强调手写 SimdVF scope 中，编译器没有自动把 9 条 key-only 指令外提。说明为什么必须检查 get_kernel_source()，不能只看源代码。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§4.1、§4.2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讲解要点：说明 9 条索引指令原先执行 64 行×2 向量=128 次，即 1152 条；外提后每向量一次，共 18 条。rel_h_vec 和 scaled_score 依赖 query 行，所以仍留在行内。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§4.2 优化1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讲解要点：讲地址模式：side=64 时 REL_H 对 64 个 lane 同址，REL_W 连续。编译期分派消掉索引指令、两次 vgather2 和尾块掩码。side=40 跨行，继续走 gather。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§4.2 优化2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讲解要点：按代码顺序解释：偶数/奇数 BF16 分别占 32-bit lane 的低/高 16 位，OR 合并，再按 NZ stride 散写。原路径的 128 条重排指令和 16 KB staging 消失。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§4.2 优化3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讲解要点：避免把 compact 路径表述成无代价优化。它多一次扫描，因此按块数编译期分派。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§4.2 优化3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讲解要点：说明 vec_ratio 降低是好信号，不应误读为利用率变差。第一轮 S=196 仍为 1-stage，后续第二轮才补开 2-stage。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§4.2 结果、§4.3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讲解要点：提醒这些占比来自第一轮 2-stage 版本的分管线统计，和后面整 kernel 的单核组 trace 不是同一口径。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§4.3 问题分析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讲解要点：指出 13 是依据测试矩阵与双遍 softmax 成本决定的编译期阈值。短循环的 2-stage 仍有 5.7% 收益。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§4.3 关键变化、结果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讲解要点：沿时间轴指认 Cube 与两个 AIV 的交错。不要把单条管线速度变化当成原因，本组 A/B 只改变 stage 数。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§4.3；图：2_stages.png、3_stages.png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讲解要点：解释“各管线占墙钟之和超过 100%”意味着真实 overlap。区分这里的 AIV0 95.9% 与 72 核均值的 96.6%。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§4.3 最终版本单核组统计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讲解要点：先说明 op-count 对 ordinary softmax 代价估计偏低，再解释 1344/1.41≈948 的来源。强调 hint 只改变调度，不改变硬件指令本身；4 次复测中位数 13.3→12.1 us。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§4.4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讲解要点：按绝对数值口述三轮收益。注意第三轮对 S=1600 无变化；S=4096 只从 287.9 到 287.5 us，主要收益体现于 S=196。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§4.5；图：attention_latency_evolution.png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建议时长：0.5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讲解要点：当前章节：Part 4。用本页快速定位本段内容，再进入后续技术页。</a:t>
            </a:r>
            <a:endParaRPr/>
          </a:p>
          <a:p xmlns:a="http://schemas.openxmlformats.org/drawingml/2006/main">
            <a:pPr>
              <a:buNone/>
            </a:pPr>
            <a:r>
              <a:t>资料：参考模板《规约类算子 Ascend 优化：以 softmax 为例（可编辑）》目录页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讲解要点：用 S=1600 说明为什么单看 mte2_ratio 容易误判。展示联合指标如何把“带宽不够”与“短 burst 结构不佳”区分开。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§5.1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建议时长：1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讲解要点：用四个动词总结：外提、倒推布局、实测流水、校准调度。最后再次提醒所有改动的采纳依据是同条件上板 A/B。</a:t>
            </a:r>
            <a:endParaRPr/>
          </a:p>
          <a:p xmlns:a="http://schemas.openxmlformats.org/drawingml/2006/main">
            <a:pPr>
              <a:buNone/>
            </a:pPr>
            <a:r>
              <a:t>资料：attention融合算子优化_脱敏版.md §5.2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建议时长：2 分钟。</a:t>
            </a:r>
            <a:endParaRPr/>
          </a:p>
          <a:p xmlns:a="http://schemas.openxmlformats.org/drawingml/2006/main">
            <a:pPr>
              <a:buNone/>
            </a:pPr>
            <a:r>
              <a:t>讲解要点：按模板结束页收尾，进入现场问答。</a:t>
            </a:r>
            <a:endParaRPr/>
          </a:p>
          <a:p xmlns:a="http://schemas.openxmlformats.org/drawingml/2006/main">
            <a:pPr>
              <a:buNone/>
            </a:pPr>
            <a:r>
              <a:t>资料：CANN算子性能优化经验分享.pptx 原始结束页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488972b754a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e58249e03d54e3d" /><Relationship Type="http://schemas.openxmlformats.org/officeDocument/2006/relationships/slideLayout" Target="/ppt/slideLayouts/slideLayout1.xml" Id="Ra9acfa99b5da44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cfa99b5da44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28a702364249" /><Relationship Type="http://schemas.openxmlformats.org/officeDocument/2006/relationships/image" Target="/ppt/media/image.png" Id="Rdd2be094ed3c4aae" /><Relationship Type="http://schemas.openxmlformats.org/officeDocument/2006/relationships/notesSlide" Target="/ppt/notesSlides/notesSlide1.xml" Id="Rad47b96f976a46d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9e5c782a94b5a" /><Relationship Type="http://schemas.openxmlformats.org/officeDocument/2006/relationships/image" Target="/ppt/media/image2.png" Id="Rf377c0d8116f46a2" /><Relationship Type="http://schemas.openxmlformats.org/officeDocument/2006/relationships/notesSlide" Target="/ppt/notesSlides/notesSlide2.xml" Id="R1f614db7ffc5458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1357230e74f93" /><Relationship Type="http://schemas.openxmlformats.org/officeDocument/2006/relationships/image" Target="/ppt/media/image3.png" Id="R46ddd0b5564a4ac7" /><Relationship Type="http://schemas.openxmlformats.org/officeDocument/2006/relationships/notesSlide" Target="/ppt/notesSlides/notesSlide3.xml" Id="R59f222f236fc44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cc9698a894a6b" /><Relationship Type="http://schemas.openxmlformats.org/officeDocument/2006/relationships/image" Target="/ppt/media/image4.png" Id="Ra3d142c29c144eed" /><Relationship Type="http://schemas.openxmlformats.org/officeDocument/2006/relationships/notesSlide" Target="/ppt/notesSlides/notesSlide4.xml" Id="R3ae5b37d9af449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e9cf5ba4f4472" /><Relationship Type="http://schemas.openxmlformats.org/officeDocument/2006/relationships/image" Target="/ppt/media/image5.png" Id="R93dbab7c905847c1" /><Relationship Type="http://schemas.openxmlformats.org/officeDocument/2006/relationships/image" Target="/ppt/media/image6.png" Id="Red3765e108f241e0" /><Relationship Type="http://schemas.openxmlformats.org/officeDocument/2006/relationships/notesSlide" Target="/ppt/notesSlides/notesSlide5.xml" Id="Redc4413d30624b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b6e73dfd64653" /><Relationship Type="http://schemas.openxmlformats.org/officeDocument/2006/relationships/image" Target="/ppt/media/image7.png" Id="Re59246f14693417a" /><Relationship Type="http://schemas.openxmlformats.org/officeDocument/2006/relationships/notesSlide" Target="/ppt/notesSlides/notesSlide6.xml" Id="R128740e386224fa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8cccbf2dc4f4c" /><Relationship Type="http://schemas.openxmlformats.org/officeDocument/2006/relationships/image" Target="/ppt/media/image8.png" Id="R5e4f796f62fe49e4" /><Relationship Type="http://schemas.openxmlformats.org/officeDocument/2006/relationships/notesSlide" Target="/ppt/notesSlides/notesSlide7.xml" Id="R58d1e1cdb8f544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1fa4b7a0240fe" /><Relationship Type="http://schemas.openxmlformats.org/officeDocument/2006/relationships/image" Target="/ppt/media/image9.png" Id="R9ca69219ef22483d" /><Relationship Type="http://schemas.openxmlformats.org/officeDocument/2006/relationships/notesSlide" Target="/ppt/notesSlides/notesSlide8.xml" Id="R8f50600475df446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da770f879493e" /><Relationship Type="http://schemas.openxmlformats.org/officeDocument/2006/relationships/image" Target="/ppt/media/image10.png" Id="Rec35f22928134288" /><Relationship Type="http://schemas.openxmlformats.org/officeDocument/2006/relationships/notesSlide" Target="/ppt/notesSlides/notesSlide9.xml" Id="R0f12e605216f44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39a9fc93a42a0" /><Relationship Type="http://schemas.openxmlformats.org/officeDocument/2006/relationships/image" Target="/ppt/media/image11.png" Id="R8cb8d09baf2543af" /><Relationship Type="http://schemas.openxmlformats.org/officeDocument/2006/relationships/notesSlide" Target="/ppt/notesSlides/notesSlide10.xml" Id="R2b0fe887a37a44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1863a6c3df4c9c" /><Relationship Type="http://schemas.openxmlformats.org/officeDocument/2006/relationships/image" Target="/ppt/media/image12.png" Id="R1f4b46285d464b29" /><Relationship Type="http://schemas.openxmlformats.org/officeDocument/2006/relationships/notesSlide" Target="/ppt/notesSlides/notesSlide11.xml" Id="Rc8f99be44cb246d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49298b1c34459f" /><Relationship Type="http://schemas.openxmlformats.org/officeDocument/2006/relationships/image" Target="/ppt/media/image13.png" Id="R426a5301eb8b4853" /><Relationship Type="http://schemas.openxmlformats.org/officeDocument/2006/relationships/notesSlide" Target="/ppt/notesSlides/notesSlide12.xml" Id="Rc2d56faf173b46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d7df7e8ef4f51" /><Relationship Type="http://schemas.openxmlformats.org/officeDocument/2006/relationships/image" Target="/ppt/media/image14.png" Id="R99df8aee27b54bd4" /><Relationship Type="http://schemas.openxmlformats.org/officeDocument/2006/relationships/notesSlide" Target="/ppt/notesSlides/notesSlide13.xml" Id="R69b742bd5dde453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e80463ded407c" /><Relationship Type="http://schemas.openxmlformats.org/officeDocument/2006/relationships/image" Target="/ppt/media/image15.png" Id="R9381c78ba0e947fc" /><Relationship Type="http://schemas.openxmlformats.org/officeDocument/2006/relationships/notesSlide" Target="/ppt/notesSlides/notesSlide14.xml" Id="R2b0a46e73c334e2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ffab657b2495c" /><Relationship Type="http://schemas.openxmlformats.org/officeDocument/2006/relationships/image" Target="/ppt/media/image16.png" Id="R9d4eae07410e494c" /><Relationship Type="http://schemas.openxmlformats.org/officeDocument/2006/relationships/notesSlide" Target="/ppt/notesSlides/notesSlide15.xml" Id="R178aa1e461be4a3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dd1d24da4444d" /><Relationship Type="http://schemas.openxmlformats.org/officeDocument/2006/relationships/image" Target="/ppt/media/image17.png" Id="R5aa47786736c4120" /><Relationship Type="http://schemas.openxmlformats.org/officeDocument/2006/relationships/notesSlide" Target="/ppt/notesSlides/notesSlide16.xml" Id="R8211757b280842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685f3914a4205" /><Relationship Type="http://schemas.openxmlformats.org/officeDocument/2006/relationships/image" Target="/ppt/media/image18.png" Id="R7e00c6097eb7468e" /><Relationship Type="http://schemas.openxmlformats.org/officeDocument/2006/relationships/image" Target="/ppt/media/image19.png" Id="R3e3fa6fa25c94d50" /><Relationship Type="http://schemas.openxmlformats.org/officeDocument/2006/relationships/image" Target="/ppt/media/image20.png" Id="Rd5a03c0c6c4445ae" /><Relationship Type="http://schemas.openxmlformats.org/officeDocument/2006/relationships/notesSlide" Target="/ppt/notesSlides/notesSlide17.xml" Id="R73606375f1dd485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666484a0e42ad" /><Relationship Type="http://schemas.openxmlformats.org/officeDocument/2006/relationships/image" Target="/ppt/media/image21.png" Id="Rdac55ab392594007" /><Relationship Type="http://schemas.openxmlformats.org/officeDocument/2006/relationships/notesSlide" Target="/ppt/notesSlides/notesSlide18.xml" Id="R73c0c6d672844d5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08cd5427f4302" /><Relationship Type="http://schemas.openxmlformats.org/officeDocument/2006/relationships/image" Target="/ppt/media/image22.png" Id="R7d6a92a65c204116" /><Relationship Type="http://schemas.openxmlformats.org/officeDocument/2006/relationships/notesSlide" Target="/ppt/notesSlides/notesSlide19.xml" Id="R772ea6db8f4c4be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613de91b54c31" /><Relationship Type="http://schemas.openxmlformats.org/officeDocument/2006/relationships/image" Target="/ppt/media/image23.png" Id="R859ef751483546b6" /><Relationship Type="http://schemas.openxmlformats.org/officeDocument/2006/relationships/image" Target="/ppt/media/image24.png" Id="R01b22056015749fa" /><Relationship Type="http://schemas.openxmlformats.org/officeDocument/2006/relationships/notesSlide" Target="/ppt/notesSlides/notesSlide20.xml" Id="R62acb19983d9425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12845e32d47c1" /><Relationship Type="http://schemas.openxmlformats.org/officeDocument/2006/relationships/image" Target="/ppt/media/image25.png" Id="R02b1fcf893f94af1" /><Relationship Type="http://schemas.openxmlformats.org/officeDocument/2006/relationships/notesSlide" Target="/ppt/notesSlides/notesSlide21.xml" Id="R3f891727b4074c2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941bd6ee146d7" /><Relationship Type="http://schemas.openxmlformats.org/officeDocument/2006/relationships/image" Target="/ppt/media/image26.png" Id="Re8e9cf580bcd42c4" /><Relationship Type="http://schemas.openxmlformats.org/officeDocument/2006/relationships/notesSlide" Target="/ppt/notesSlides/notesSlide22.xml" Id="Rf089edd025c14ac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adc4dfa06475b" /><Relationship Type="http://schemas.openxmlformats.org/officeDocument/2006/relationships/image" Target="/ppt/media/image27.png" Id="R4cdb1f864f6f42ad" /><Relationship Type="http://schemas.openxmlformats.org/officeDocument/2006/relationships/notesSlide" Target="/ppt/notesSlides/notesSlide23.xml" Id="R702f29818a554b7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2c390a9d64c5f" /><Relationship Type="http://schemas.openxmlformats.org/officeDocument/2006/relationships/image" Target="/ppt/media/image28.png" Id="R7942ef92785a4d26" /><Relationship Type="http://schemas.openxmlformats.org/officeDocument/2006/relationships/notesSlide" Target="/ppt/notesSlides/notesSlide24.xml" Id="R52a2335802d1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be094ed3c4aa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00075D-C0EA-4127-AC1A-90B22D82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00175"/>
            <a:ext cx="7048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rPr>
              <a:t>Attention 融合算子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rPr>
              <a:t>Ascend 性能优化</a:t>
            </a:r>
            <a:endParaRPr/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CAD36-5D3B-43A0-B579-98599D60B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43225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725" b="0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C1422"/>
                </a:solidFill>
                <a:latin typeface="Microsoft YaHei"/>
                <a:ea typeface="Microsoft YaHei"/>
                <a:cs typeface="Microsoft YaHei"/>
              </a:rPr>
              <a:t>Attention 的数据流、流水与调度实践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34167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267BDDC-BA24-4F79-9935-BD86725B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F7CFBFFE-8E98-4ABE-A5F2-C65ABB15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Attention 算子优化</a:t>
            </a:r>
            <a:endParaRPr/>
          </a:p>
        </p:txBody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D5676B29-A702-45D7-8200-4AC2366A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19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目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/>
          </a:p>
        </p:txBody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C6FD79D3-87B7-46A2-AD98-9A5A6F61C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/>
          </a:p>
        </p:txBody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7094C34-1477-4274-8848-F4AE42B13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19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F288EA2-FC99-489D-989D-C611AA6B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145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E593B42-D80D-4FCB-ADCF-38BA4BC3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1</a:t>
            </a:r>
            <a:endParaRPr/>
          </a:p>
        </p:txBody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00785C96-2EFF-4F92-AA46-665047EB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050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算子背景</a:t>
            </a:r>
            <a:endParaRPr/>
          </a:p>
        </p:txBody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C7B8EE8E-08F0-4E19-8673-6C64EEF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813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8AB2FC8F-3FA3-4AFA-BF07-18366C79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2</a:t>
            </a:r>
            <a:endParaRPr/>
          </a:p>
        </p:txBody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02B78F68-75F0-41B1-AFE7-76E0DDFD3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优化过程</a:t>
            </a:r>
            <a:endParaRPr/>
          </a:p>
        </p:txBody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1CC684A6-AF4E-4AD7-8F16-A6E1D1C8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F336ACA3-3BC5-45AA-8C20-71AE39441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576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3</a:t>
            </a:r>
            <a:endParaRPr/>
          </a:p>
        </p:txBody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ADC8121-743C-4FF3-AB38-AAE82999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结果复盘与可复用方法</a:t>
            </a:r>
            <a:endParaRPr/>
          </a:p>
        </p:txBody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3CB7F28C-A0C1-4346-8219-62E43290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7c0d8116f46a2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901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A7A820D-8B83-4560-98F0-9AAAD64B2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AECF879A-87C0-47E9-9FC0-FC6D3FDC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测试环境、输入输出与 shape</a:t>
            </a:r>
            <a:endParaRPr/>
          </a:p>
        </p:txBody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BDE2BB4-C6AB-42E1-A1C8-9152AEB2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三组 case 的 key 块数分别为 2 / 13 / 32</a:t>
            </a:r>
            <a:endParaRPr/>
          </a:p>
        </p:txBody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A2142565-02E3-4CC0-81DA-5302D0D1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5969DCA2-FBF0-4C6C-9D72-861E822CB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ddd0b5564a4ac7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337" name=""/>
          <p:cNvGraphicFramePr/>
          <p:nvPr/>
        </p:nvGraphicFramePr>
        <p:xfrm>
          <a:off xmlns:a="http://schemas.openxmlformats.org/drawingml/2006/main" x="457200" y="1600200"/>
          <a:ext xmlns:a="http://schemas.openxmlformats.org/drawingml/2006/main" cx="112776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38800"/>
                <a:gridCol w="5638800"/>
              </a:tblGrid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环境项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芯片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Ascend</a:t>
                      </a: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，36 AIC / 72 AIV，1650/1650 MHz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CANN 9.1.0；</a:t>
                      </a: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TileLang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(batch, side)=(2,14)/(1,40)/(1,64)，heads=12，D=64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BF16，FP32 累加，概率 BF16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38" name=""/>
          <p:cNvGraphicFramePr/>
          <p:nvPr/>
        </p:nvGraphicFramePr>
        <p:xfrm>
          <a:off xmlns:a="http://schemas.openxmlformats.org/drawingml/2006/main" x="457200" y="4000500"/>
          <a:ext xmlns:a="http://schemas.openxmlformats.org/drawingml/2006/main" cx="11277600" cy="1809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形状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 / K / V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[batch, seq_len, heads, dim]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BSHD；Q task 内常驻 L1，K/V 按 key 块流入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REL_H / REL_W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[batch, seq_len, heads, w_aligned]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w_aligned=ceil(side/8)×8；task 序幕进 UB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Output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[batch, seq_len, heads, dim]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FP32 累加归一化后转 BF16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50083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DF1674E4-5A5D-4D8B-99A8-0C7A06A8F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2842D39C-436A-4237-82B9-120B4D8B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二维相对位置偏置 Attention 的计算式</a:t>
            </a:r>
            <a:endParaRPr/>
          </a:p>
        </p:txBody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9CA7CEFC-40B0-4115-8EF0-3D76A241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标准在线 softmax 前，多了 REL_H / REL_W 两次查表修正</a:t>
            </a:r>
            <a:endParaRPr/>
          </a:p>
        </p:txBody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9FD998F-2B0D-4505-BF84-56B95FF1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146D9071-6F22-442D-BB14-5D21ACCE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142c29c144eed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4BAE46A2-0DAC-4813-ADC5-8AB5C85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6229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80230E5-B38A-4294-89FB-F9754D25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85925"/>
            <a:ext cx="571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2C2374A-4A40-4BF4-83C7-8079A9A5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57721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score[i,j] = Q[i] · K[j] / sqrt(D)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+ REL_H[i, j // side]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+ REL_W[i, j % side]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P = online_softmax(score)</a:t>
            </a:r>
            <a:endParaRPr/>
          </a:p>
          <a:p xmlns:a="http://schemas.openxmlformats.org/drawingml/2006/main">
            <a:pPr>
              <a:lnSpc>
                <a:spcPct val="120000"/>
              </a:lnSpc>
              <a:buNone/>
              <a:defRPr sz="187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O = P @ V</a:t>
            </a:r>
            <a:endParaRPr/>
          </a:p>
        </p:txBody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A2CF6D74-AA64-4BCD-B6F0-A0C4A7ED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733550"/>
            <a:ext cx="3762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视觉编码器中的位置</a:t>
            </a:r>
            <a:endParaRPr/>
          </a:p>
        </p:txBody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48AAB8C-212B-4342-A1E7-FAD562AA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90750"/>
            <a:ext cx="4000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文档图像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patch embedding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ViT block × N（每层调用本算子）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↓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语言模型</a:t>
            </a:r>
            <a:endParaRPr/>
          </a:p>
        </p:txBody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7525D032-5CAB-4E99-A14C-A513410D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10125"/>
            <a:ext cx="10934700" cy="828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B92A4767-7E24-4D09-89A4-47B80F81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硬件映射</a:t>
            </a:r>
            <a:endParaRPr/>
          </a:p>
        </p:txBody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50BBF7E8-3D23-4B52-A957-6BF8A16B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019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QKᵀ / PV：AIC Cube     scale / bias / softmax / rescale：AIV Vector     1 AIC + 2 AIV / task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71678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8358C87-EF0D-4DFC-8E1A-BA7749860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41DEC00F-2CA3-4109-89B0-63AD6F15A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片上数据流与 C/V 交接</a:t>
            </a:r>
            <a:endParaRPr/>
          </a:p>
        </p:txBody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3D180451-6879-40EB-AE5E-71D15B33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 P 矩阵不落 GM；每个概率块仅在片上参加当前 key 块的 PV</a:t>
            </a:r>
            <a:endParaRPr/>
          </a:p>
        </p:txBody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3AFDC5C5-DAA1-47D5-A9A0-0C642C08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B6878FF7-F080-40A2-A559-10B3528B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dbab7c905847c1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pic>
        <p:nvPicPr>
          <p:cNvPr id="3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765e108f241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0" y="1285875"/>
            <a:ext cx="7534275" cy="4476750"/>
          </a:xfrm>
          <a:prstGeom xmlns:a="http://schemas.openxmlformats.org/drawingml/2006/main" prst="rect">
            <a:avLst/>
          </a:prstGeom>
        </p:spPr>
      </p:pic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E5923F3E-D6A6-4042-9605-7FA432F4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40005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DB05DB8B-5C03-4DB3-8258-988243F0F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714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读图顺序</a:t>
            </a:r>
            <a:endParaRPr/>
          </a:p>
        </p:txBody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D00573FA-B6DE-4DF5-81D9-099E4E14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① 输入搬运</a:t>
            </a:r>
            <a:endParaRPr/>
          </a:p>
        </p:txBody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FC20EBC4-DAB0-4E15-8CCD-B13FE32CC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Q 在 task 内常驻 L1；K/V 随 key block 流式搬入；REL_H / REL_W 在 task 序幕进 UB 并循环复用。</a:t>
            </a:r>
            <a:endParaRPr/>
          </a:p>
        </p:txBody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70202AF6-8A57-4483-99E1-00972EE7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333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② Cube → Vector → Cube</a:t>
            </a:r>
            <a:endParaRPr/>
          </a:p>
        </p:txBody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1417494C-EC21-4DA3-8B9E-1DFC4BBD5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619500"/>
            <a:ext cx="333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QKᵀ Cube 产出 score，AIV 完成 scale、偏置查表和 online softmax；概率块直写 NZ，随后交给 PV Cube。</a:t>
            </a:r>
            <a:endParaRPr/>
          </a:p>
        </p:txBody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EF6A5502-7EF0-406E-A4FA-7C64C1D0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3390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③ 片上闭环</a:t>
            </a:r>
            <a:endParaRPr/>
          </a:p>
        </p:txBody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4A85A3DE-1675-4643-A3C9-8AD4B80B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81965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P 不落 GM，只在片上参与当前 key 块的 PV；最终在 AIV 做 FP32 rescale / 归一化，再转 BF16 写回 Output GM。</a:t>
            </a:r>
            <a:endParaRPr/>
          </a:p>
        </p:txBody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59DA3492-6F00-4AE8-9958-10F77FA3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695950"/>
            <a:ext cx="333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7"/>
          </a:solidFill>
          <a:ln xmlns:a="http://schemas.openxmlformats.org/drawingml/2006/main" w="9525">
            <a:solidFill>
              <a:srgbClr val="E600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D0EAE97B-80CD-4BA4-8EA7-8A8E5428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34050"/>
            <a:ext cx="310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优化抓手：减少中转，缩短 C/V 交接路径。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80483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63CDCD-319A-47E2-AAA6-9005A2C5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C0662-1B9D-4484-9045-01B772C7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Attention 算子优化</a:t>
            </a:r>
            <a:endParaRPr/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375CD-6A4B-48C8-B297-837E0D67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19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目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/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49CEC2-3B1A-4734-8410-07B249BF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4EBD6-A974-4D22-BCBB-26CB43EC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19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A32098-A363-4281-B757-7E617AC4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145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D8B84-7674-4F41-9CE5-2B85BB4C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1</a:t>
            </a:r>
            <a:endParaRPr/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A0C38B-37A2-4AE6-8C7B-ECFE26E9B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050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算子背景</a:t>
            </a:r>
            <a:endParaRPr/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B67A5B-71C1-4ECD-BE4B-93881ADF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813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271A7-22E2-457A-96AF-D7F7805E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2</a:t>
            </a:r>
            <a:endParaRPr/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F0CB23-DAC2-40DF-838C-4066B0C8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优化过程</a:t>
            </a:r>
            <a:endParaRPr/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FD033-5C75-4ECC-85A6-8BC86DB1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DE65FC-C249-495F-B4FD-65969EE1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576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3</a:t>
            </a:r>
            <a:endParaRPr/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878095-E1FC-4C99-AF05-ADAB5726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结果复盘与可复用方法</a:t>
            </a:r>
            <a:endParaRPr/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F80956-3572-4D9C-B857-F71C919E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246f14693417a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2518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94AC7327-5C9C-4A5E-AA16-B8BE771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DA0D1AD3-5CDD-4863-98F2-72AC3EF0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原始实现伪代码：key 循环全串行</a:t>
            </a:r>
            <a:endParaRPr/>
          </a:p>
        </p:txBody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E5F6E874-ED62-4DAA-8B26-5F764E10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以下为结构示意，省略宏、掩码与同步细节，不能独立执行</a:t>
            </a:r>
            <a:endParaRPr/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9B7B6EDC-626E-439D-8D0C-7FD417E5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3312450-36C6-4A18-8313-1B9F83BE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f796f62fe49e4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E0992C6F-634B-4BFC-9FE3-326B4FDF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57CB4D4D-F0A2-4DDE-BA26-C5FB862E4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571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77BB3CFF-DD5C-416B-B9FA-D58C006E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455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with T.Kernel(num_cores) as core_id: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task 序幕：Q 与两张 bias 表进入片上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task_id in T.Persistent(...):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Q_L1 = copy(Q[task_id])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REL_H_UB, REL_W_UB = dual_copy(REL_H, REL_W)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# 每个 key block 依次完成五段工作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for key_block in T.serial(key_blocks):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K_L1, V_L1 = copy(K[key_block]), copy(V[key_block])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QK(Q_L1, K_L1 → score_L0C)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score_UB = dual_copy(score_L0C)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bias_and_ordinary_softmax(score_UB → prob_UB)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P_L1 = dual_copy(prob_UB)  # 当前路径：ND→NZ 中转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PV(P_L1, V_L1 → out_L0C)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rescale(dual_copy(out_L0C))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# task 收尾：归一化后写回 GM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normalize_and_writeback(Output[task_id])</a:t>
            </a:r>
            <a:endParaRPr/>
          </a:p>
        </p:txBody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F9EAAC51-515C-40ED-A39E-7D617238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11277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五段顺序执行：K/V 搬入、QK、bias + softmax、PV、rescale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38392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B5EFACE5-5AB5-4122-BD72-7DC20C3F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1D1B6C91-4243-44ED-B712-D0171BE8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初始 Profile：Vector 忙，但端到端时延仍高</a:t>
            </a:r>
            <a:endParaRPr/>
          </a:p>
        </p:txBody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A29C8B64-576D-4C56-B45A-8200A6EBA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单看 vec_ratio 会误判；还要结合指令账和关键核时间线</a:t>
            </a:r>
            <a:endParaRPr/>
          </a:p>
        </p:txBody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9C0D48D8-FCED-4834-8990-E7794DF03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2ED7AE0C-8C6F-4CCB-8497-830A45B62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69219ef22483d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378" name=""/>
          <p:cNvGraphicFramePr/>
          <p:nvPr/>
        </p:nvGraphicFramePr>
        <p:xfrm>
          <a:off xmlns:a="http://schemas.openxmlformats.org/drawingml/2006/main" x="457200" y="1714500"/>
          <a:ext xmlns:a="http://schemas.openxmlformats.org/drawingml/2006/main" cx="112776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TaskDuration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2514.7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vec_ratio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0.769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357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 mad / 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0.051 / 0.147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0.058 / 0.112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5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0.059 / 0.070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9538B344-7076-4CBE-B702-365A21D31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47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S=4096 的 AIV 指令分解（每 key 块、每 AIV）</a:t>
            </a:r>
            <a:endParaRPr/>
          </a:p>
        </p:txBody>
      </p:sp>
      <p:graphicFrame>
        <p:nvGraphicFramePr>
          <p:cNvPr id="380" name=""/>
          <p:cNvGraphicFramePr/>
          <p:nvPr/>
        </p:nvGraphicFramePr>
        <p:xfrm>
          <a:off xmlns:a="http://schemas.openxmlformats.org/drawingml/2006/main" x="457200" y="4667250"/>
          <a:ext xmlns:a="http://schemas.openxmlformats.org/drawingml/2006/main" cx="11277600" cy="1028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ND→NZ 重排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rescale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合计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2438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1344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4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4294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01682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8481301E-28B3-4B37-BC32-980BC201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CB7440F8-61DA-417D-B22E-3B909C04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生成代码确认三处可消除的开销</a:t>
            </a:r>
            <a:endParaRPr/>
          </a:p>
        </p:txBody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C30BD6F9-54E9-4D69-8783-87D62718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先做数据依赖分类，再考虑更深的软件流水</a:t>
            </a:r>
            <a:endParaRPr/>
          </a:p>
        </p:txBody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709C479A-C89C-486B-A136-A4A61B4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ABE7F6C6-C947-473A-9298-D9C93DFC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3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5f22928134288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388" name=""/>
          <p:cNvGraphicFramePr/>
          <p:nvPr/>
        </p:nvGraphicFramePr>
        <p:xfrm>
          <a:off xmlns:a="http://schemas.openxmlformats.org/drawingml/2006/main" x="457200" y="1685925"/>
          <a:ext xmlns:a="http://schemas.openxmlformats.org/drawingml/2006/main" cx="11277600" cy="33242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生成代码证据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后续手段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key-only 索引逐行重算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bias 段 19 条中 9 条与 query 行无关；64 行×2 向量反复执行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提到行循环外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side=64 仍走 gather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地址实际是 REL_H 同址、REL_W 连续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编译期连续路径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先写 ND 再转 NZ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 条重排指令 + 16 KB staging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softmax 直写 NZ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4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T.serial 逐块串行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K/V、QK、softmax、PV、rescale 无跨块重叠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T.Pipelined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5A543667-65C0-4C8F-A14E-ED26DB67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7"/>
          </a:solidFill>
          <a:ln xmlns:a="http://schemas.openxmlformats.org/drawingml/2006/main" w="9525">
            <a:solidFill>
              <a:srgbClr val="E600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7D4F8355-564F-4AB6-AA72-DB014A6FB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57825"/>
            <a:ext cx="10906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依赖判据：只依赖 key 的计算提到 query 行循环外；只依赖 query 的计算提到 key 循环外。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88618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04C4E5-A631-406D-81DE-85E7863F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F36115-C964-4C5E-A3EF-50F7D5036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第一轮：把确定性的冗余计算移出热循环</a:t>
            </a:r>
            <a:endParaRPr/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EAC101-CD79-4D37-819C-9F81DF606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为什么做：Profile 显示 bias 索引在 64 行内重复，side=64 还走 gather，ND→NZ 也有额外中转；先从数据流消除可证明的浪费</a:t>
            </a:r>
            <a:endParaRPr/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AE6E97-E1D2-4968-A5C6-3933AAA0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87C46D-6D06-4310-BAB4-5A2836C8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8d09baf2543af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B844E73-8EBA-4FB4-A68A-910142A2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8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修改前</a:t>
            </a:r>
            <a:endParaRPr/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167C57-AC0F-4AC1-9F68-94CE6480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672283B-B13F-4035-94D6-7E64D7C9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66875"/>
            <a:ext cx="57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5B574C9-0488-4148-B6F1-701B777E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71650"/>
            <a:ext cx="530352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with T.SimdVF():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修改前：key-only 索引在 64 行循环内重复计算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i in range(64):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for v in range(2):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h_idx = vdiv(key_idx, 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w_idx = vsub(key_idx, h_idx*side)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h = vgather2(REL_H_UB[i], h_idx)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w = vgather2(REL_W_UB[i], w_idx)</a:t>
            </a:r>
            <a:endParaRPr/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D7DF70-CDB7-4152-A99A-EB0683987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381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rPr>
              <a:t>修改后</a:t>
            </a:r>
            <a:endParaRPr/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73D876-6D0E-4766-9DF4-3E7F069F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687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5CB6F9-2FA9-4471-851C-9B7F647D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66875"/>
            <a:ext cx="5715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619A03F-FF5B-4715-B5C6-5069A7AE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71650"/>
            <a:ext cx="5376672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with T.SimdVF():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修改后：每个向量只算一次 key-only 索引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v in range(2):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h_idx = vdiv(key_idx, 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w_idx = vsub(key_idx, h_idx*side)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# query 行内只保留按行加载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for i in range(64):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h = vgather2(REL_H_UB[i], h_idx)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w = vgather2(REL_W_UB[i], w_idx)</a:t>
            </a:r>
            <a:endParaRPr/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477D56-CB4B-4DA8-B43C-49983230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91125"/>
            <a:ext cx="542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2BE22C-2386-489B-AEC6-55BE9E09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5124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每 key 块每 AIV 索引指令</a:t>
            </a:r>
            <a:endParaRPr/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9271C0-25E2-4A86-9360-2E3DFABA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124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1152 → 18</a:t>
            </a:r>
            <a:endParaRPr/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3322F4-285E-4926-A045-0C39BA55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67325"/>
            <a:ext cx="5191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vdiv 是 int16 微码除法，单条代价高于一般向量指令。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479884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FD9F705-56DC-44A1-A3A6-464DA9AF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02CEEEF-9188-4117-ACFD-57ECD160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side=64 时把 gather 改为广播与连续读</a:t>
            </a:r>
            <a:endParaRPr/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87D21B3-7523-462F-9D81-35667560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64-lane 向量恰好覆盖偏置表的一整行，地址模式本身就是索引</a:t>
            </a:r>
            <a:endParaRPr/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ABE3CC-12F6-4FF7-A4A4-EAA4507E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725A4B-72A5-4C53-A447-0EF53498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b46285d464b29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A28DD37-262F-4008-83EA-D441972C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1127760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D516EC2-44C1-438E-A8E2-1AC8451C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571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A966EB-1248-4D8B-9AA1-032DEEEF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10820400" cy="3733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side=64：64 个 lane 正好覆盖一行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use_contiguous_rel_bias = side % vector_lanes == 0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for vector_id in range(block_N // vector_lanes):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for i in range(rows_per_aiv):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if use_contiguous_rel_bias: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# REL_H 广播，REL_W 连续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rel_h_vec = vcvt(vld(REL_H_UB[i, rel_offset // side],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                     "BRC_B16"))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rel_w_vec = vcvt(vld(REL_W_UB[i, rel_offset % side],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                     "UNPK_B16"))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else: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# side=40 跨行回卷，保留 gather 慢路径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rel_h_vec = vcvt(vgather2(REL_H_UB[i], rel_h_index))</a:t>
            </a:r>
            <a:endParaRPr/>
          </a:p>
          <a:p xmlns:a="http://schemas.openxmlformats.org/drawingml/2006/main">
            <a:pPr>
              <a:lnSpc>
                <a:spcPct val="125000"/>
              </a:lnSpc>
              <a:buNone/>
              <a:defRPr sz="1350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rel_w_vec = vcvt(vgather2(REL_W_UB[i], rel_w_index))</a:t>
            </a:r>
            <a:endParaRPr/>
          </a:p>
        </p:txBody>
      </p:sp>
      <p:graphicFrame>
        <p:nvGraphicFramePr>
          <p:cNvPr id="65" name=""/>
          <p:cNvGraphicFramePr/>
          <p:nvPr/>
        </p:nvGraphicFramePr>
        <p:xfrm>
          <a:off xmlns:a="http://schemas.openxmlformats.org/drawingml/2006/main" x="457200" y="5191125"/>
          <a:ext xmlns:a="http://schemas.openxmlformats.org/drawingml/2006/main" cx="11277600" cy="99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side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 个连续 key 的行/列坐标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读取方式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行坐标恒定；列坐标 0..63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BRC_B16 + UNPK_B16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30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lane 40 后跨行回卷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vdiv/vmul/vsub + vgather2 + 掩码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290139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8AC6BFB-8B2A-414F-89B6-EEBFB952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0F4542-CB16-464B-88CE-E64C1DA9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softmax 直接写出 PV 所需的 NZ 布局</a:t>
            </a:r>
            <a:endParaRPr/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3857D9F-4886-4FC8-A68D-621E3F9BF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利用 BF16 even/odd 的低高半字和散写，寄存器内完成布局合成</a:t>
            </a:r>
            <a:endParaRPr/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9CF5FCE-7CC0-4D93-B041-CEA3150C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5ECB24A-C5B4-4789-904C-F7E14B3A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a5301eb8b4853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219638F-7E56-4129-9478-EFD1F611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1127760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7DFD434-81DF-4093-9141-A2D54839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57150" cy="3543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5C7C020-E713-404A-BF4B-6317CE4C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even / odd 分别落到 32-bit lane 的低 / 高 16 位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even_bf16 = vcvt(prob_even, "bfloat16", part=0)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odd_bf16  = vcvt(prob_odd,  "bfloat16", part=1)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vor 在寄存器中拼出交错 BF16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merged_bits = vor(reinterpret(even_bf16, "uint16x128"),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          reinterpret(odd_bf16,  "uint16x128"))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按 NZ stride 散写，避免 ND→NZ staging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vsstb(reinterpret(merged_bits, "bfloat16x128"),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p_nz_ub[row, 0], nz_stride, softmax_b16)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mem_bar("VST_VLD")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UB→L1 变成连续拷贝</a:t>
            </a:r>
            <a:endParaRPr/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267FFD-1CA3-4B02-87DD-F7692F3A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原路径</a:t>
            </a:r>
            <a:endParaRPr/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0FE5DA5-6788-4F8C-8996-F353ACB7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ND 概率写 UB → dual_copy 中 ND→NZ 重排 → P L1</a:t>
            </a:r>
            <a:endParaRPr/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6B273E-9654-4299-9A08-EC8F676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577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87B69"/>
                </a:solidFill>
                <a:latin typeface="Microsoft YaHei"/>
                <a:ea typeface="Microsoft YaHei"/>
                <a:cs typeface="Microsoft YaHei"/>
              </a:rPr>
              <a:t>新路径</a:t>
            </a:r>
            <a:endParaRPr/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D2BE1CD-3906-4ACF-943D-71879D8D5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81625"/>
            <a:ext cx="552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vcvt(part=0/1) → vor → vsstb 直写 NZ → 纯连续拷贝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0661142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9ED7E9-E840-4B97-B017-5C3450E3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5E976C7-F75B-4FEB-9FE9-2C8F9D66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compact 路径有双遍 softmax 成本</a:t>
            </a:r>
            <a:endParaRPr/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133D201-AAB6-485A-B399-1146C59F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因此只在 key_block_count ≥ 13 时启用，短序列保留 ordinary 单遍路径</a:t>
            </a:r>
            <a:endParaRPr/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012AD3-2DE3-4121-8ADF-DB0806D1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63CE87-D535-4C48-BC08-E0E71D759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df8aee27b54bd4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87" name=""/>
          <p:cNvGraphicFramePr/>
          <p:nvPr/>
        </p:nvGraphicFramePr>
        <p:xfrm>
          <a:off xmlns:a="http://schemas.openxmlformats.org/drawingml/2006/main" x="457200" y="1619250"/>
          <a:ext xmlns:a="http://schemas.openxmlformats.org/drawingml/2006/main" cx="11277600" cy="3257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ordinary 路径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compact 路径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概率计算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单遍在线 softmax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第一遍 row-max；第二遍 exp、写盘、求和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概率写出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BF16 按 ND 写 prob_ub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even/odd cast + vor + vsstb 直写 NZ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布局转换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dual_copy ND→NZ，128 指令 + 16 KB staging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寄存器内合成，无单独重排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UB→L1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拷贝时处理布局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compact NZ 注解，纯连续搬运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分派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S=196，2 个 key 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S=1600/4096，13/32 个 key 块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0C4704-BE1C-48A1-B8C3-A1AE9135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112776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0C56C48-7021-4968-B3A1-38CF3C37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625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取舍：短循环中双遍开销摊不回；大 shape 的 Vector 饱和，省掉中转更有价值。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030467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1A8D3CD-1730-43AB-869C-76148E5F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6446707-1CA7-4F23-9DF9-9FFEDFB8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数据流重构贡献了累计收益的大头</a:t>
            </a:r>
            <a:endParaRPr/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38F7331-6DDF-49D5-8DA0-FD88D593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三项改动叠加，并为中长序列打开基础软件流水</a:t>
            </a:r>
            <a:endParaRPr/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A5DB970-98B1-4EE0-AFB6-5744AFA8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44F445B-03B4-4616-8614-62DACD86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81c78ba0e947fc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97" name=""/>
          <p:cNvGraphicFramePr/>
          <p:nvPr/>
        </p:nvGraphicFramePr>
        <p:xfrm>
          <a:off xmlns:a="http://schemas.openxmlformats.org/drawingml/2006/main" x="457200" y="1666875"/>
          <a:ext xmlns:a="http://schemas.openxmlformats.org/drawingml/2006/main" cx="112776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TaskDuration 原始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2514.7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第一轮后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346.7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加速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×2.35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×4.54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×7.25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vec_ratio 原始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0.769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270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第一轮后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0.465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0.765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0.812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FC36ED-98D9-466F-B482-DD26528C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62550"/>
            <a:ext cx="112776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7"/>
          </a:solidFill>
          <a:ln xmlns:a="http://schemas.openxmlformats.org/drawingml/2006/main" w="9525">
            <a:solidFill>
              <a:srgbClr val="E6003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B7C1415-0B5E-47F3-BC5E-8FCD79A4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6732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S=4096 vec_ratio 从 0.878 降至 0.812，同时 TaskDuration 大降：Vector 冗余少了，关键路径转向 C/V 交接。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41140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95A13A6-3B3B-4361-84F3-F5C60608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832FD34-0A9C-46AC-A78F-226FE5956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第二轮：把 Cube / Vector 交接空档变成重叠</a:t>
            </a:r>
            <a:endParaRPr/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0DEEDE7-939A-465E-B616-A9C57CA2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为什么做：第一轮后瓶颈转移到相邻 key block 的等待，T.serial 让搬运、Cube 与 Vector 依次排队；用 2/3-stage 隐藏交接成本</a:t>
            </a:r>
            <a:endParaRPr/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9C3D29F-B841-4B5A-9ED4-38D96277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C63536B-52DF-4ACE-A0BC-C4F55815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eae07410e494c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29" name=""/>
          <p:cNvGraphicFramePr/>
          <p:nvPr/>
        </p:nvGraphicFramePr>
        <p:xfrm>
          <a:off xmlns:a="http://schemas.openxmlformats.org/drawingml/2006/main" x="457200" y="1704975"/>
          <a:ext xmlns:a="http://schemas.openxmlformats.org/drawingml/2006/main" cx="523875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2619375"/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管线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70.2%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scalar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7.4%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5.3%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16.9%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0" name=""/>
          <p:cNvGraphicFramePr/>
          <p:nvPr/>
        </p:nvGraphicFramePr>
        <p:xfrm>
          <a:off xmlns:a="http://schemas.openxmlformats.org/drawingml/2006/main" x="6019800" y="1704975"/>
          <a:ext xmlns:a="http://schemas.openxmlformats.org/drawingml/2006/main" cx="57150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857500"/>
              </a:tblGrid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 管线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49.6%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fixpipe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35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27.3%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9CBA2C7-237D-4853-8AF3-8D01A3C9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43450"/>
            <a:ext cx="11277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判断：空档主要发生在 Cube、Vector 与搬运之间的衔接，值得增加可并行的 key block 数。</a:t>
            </a:r>
            <a:endParaRPr/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4054B2F-F3F6-4F9F-A93F-1FB29AF1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1277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三个 shape 的 key 块数：S=196 为 2，S=1600 为 13，S=4096 为 32。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805712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3BBE3DA-CBFC-4D07-AE77-5B5D5149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9BAB6026-847D-4954-AF44-A34235E2A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流水深度由 key 块数在编译期分派</a:t>
            </a:r>
            <a:endParaRPr/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2776E3A-D37E-459E-A6F9-EEEAF10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S=196 使用 2-stage，S=1600/4096 使用 3-stage</a:t>
            </a:r>
            <a:endParaRPr/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84F7FD94-F832-4DFE-AB17-3107C63F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41E85B4-4BED-4DA7-812C-86099EC4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47786736c4120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BC4DFCC-8401-4B05-A693-1ED36395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11277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84570C4-2956-4D19-9AE2-0EE65C97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33500"/>
            <a:ext cx="57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9F76DB3-862E-43E8-9257-6EC32802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108204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key block 少：2-stage；块数达到 13：3-stage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PIPELINE_3STAGE_MIN_KEY_BLOCKS = 13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COMPACT_NZ_MIN_KEY_BLOCKS = 13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def _pipeline_stages(seq_len: int) -&gt; int: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return 3 if _key_block_count(seq_len) &gt;= 13 else 2</a:t>
            </a:r>
            <a:endParaRPr/>
          </a:p>
          <a:p xmlns:a="http://schemas.openxmlformats.org/drawingml/2006/main">
            <a:pPr>
              <a:buNone/>
            </a:pP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# 循环体不变，改变的是缓冲和调度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for key_block in T.Pipelined(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key_blocks, num_stages=pipeline_stages,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annotations={"enable_offset": True}):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...  # QK、bias + softmax、PV、rescale</a:t>
            </a:r>
            <a:endParaRPr/>
          </a:p>
        </p:txBody>
      </p:sp>
      <p:graphicFrame>
        <p:nvGraphicFramePr>
          <p:cNvPr id="141" name=""/>
          <p:cNvGraphicFramePr/>
          <p:nvPr/>
        </p:nvGraphicFramePr>
        <p:xfrm>
          <a:off xmlns:a="http://schemas.openxmlformats.org/drawingml/2006/main" x="457200" y="4895850"/>
          <a:ext xmlns:a="http://schemas.openxmlformats.org/drawingml/2006/main" cx="11277600" cy="1276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19400"/>
                <a:gridCol w="2819400"/>
                <a:gridCol w="2819400"/>
                <a:gridCol w="2819400"/>
              </a:tblGrid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case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key blocks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流水变化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TaskDuration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→ 2-stage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 → 13.3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→ 3-stage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103.3 → 89.5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319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→ 3-stage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346.7 → 287.9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8192843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97E9DFD8-99E4-46DC-9261-2CD1EA05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DA1BB0A-A7C2-47B2-8CDA-05DBA6DE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3-stage 让 Cube 与两路 AIV 深度交错</a:t>
            </a:r>
            <a:endParaRPr/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B17707E-CE1F-4FBB-8E87-4BA493AA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以 S=4096 为例：两张图来自同机同批采集，代码相同，仅 stage 数不同</a:t>
            </a:r>
            <a:endParaRPr/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40A22030-277E-41FD-9E58-7AFDB082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2BE97D-C312-4F3C-8998-131FC608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0c6097eb7468e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pic>
        <p:nvPicPr>
          <p:cNvPr id="1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fa6fa25c94d50"/>
          <a:stretch xmlns:a="http://schemas.openxmlformats.org/drawingml/2006/main"/>
        </p:blipFill>
        <p:spPr>
          <a:xfrm xmlns:a="http://schemas.openxmlformats.org/drawingml/2006/main">
            <a:off x="922734" y="1619250"/>
            <a:ext cx="4479131" cy="3076575"/>
          </a:xfrm>
          <a:prstGeom xmlns:a="http://schemas.openxmlformats.org/drawingml/2006/main" prst="rect">
            <a:avLst/>
          </a:prstGeom>
        </p:spPr>
      </p:pic>
      <p:pic>
        <p:nvPicPr>
          <p:cNvPr id="1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03c0c6c4445ae"/>
          <a:stretch xmlns:a="http://schemas.openxmlformats.org/drawingml/2006/main"/>
        </p:blipFill>
        <p:spPr>
          <a:xfrm xmlns:a="http://schemas.openxmlformats.org/drawingml/2006/main">
            <a:off x="7187502" y="1619250"/>
            <a:ext cx="3627246" cy="3076575"/>
          </a:xfrm>
          <a:prstGeom xmlns:a="http://schemas.openxmlformats.org/drawingml/2006/main" prst="rect">
            <a:avLst/>
          </a:prstGeom>
        </p:spPr>
      </p:pic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14085E9-41DD-4C9E-ABBC-96FB5C4B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81550"/>
            <a:ext cx="541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2-stage：346.7 us</a:t>
            </a:r>
            <a:endParaRPr/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E5FB83B9-64AF-4AC6-A7C8-349FD023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46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3-stage：287.9 us（快 17.0%）</a:t>
            </a:r>
            <a:endParaRPr/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44684D3C-8406-4736-9A3A-8386BC1F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11277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B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7A65EF5-F985-49DB-AC64-83A81517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448300"/>
            <a:ext cx="1081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读图重点：3-stage 中 Cube 批次更密，AIV 等待区间更短；收益来自跨块重叠。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1966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B3F6877C-117B-4921-88D1-FAB86F6A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07007AA-889C-4778-B92E-4DA56449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3-stage 后关键 AIV Vector 基本连续工作</a:t>
            </a:r>
            <a:endParaRPr/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39446130-1379-4EB8-976C-87CE19CD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S=4096，core0 的 1 AIC + 2 AIV，整 kernel 墙钟 289.8 us</a:t>
            </a:r>
            <a:endParaRPr/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3D883EE-DD0F-4289-8A07-58F1C65A7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1CA8B5AF-E9A4-4F18-B786-BC6C495A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55ab392594007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189" name=""/>
          <p:cNvGraphicFramePr/>
          <p:nvPr/>
        </p:nvGraphicFramePr>
        <p:xfrm>
          <a:off xmlns:a="http://schemas.openxmlformats.org/drawingml/2006/main" x="457200" y="1609725"/>
          <a:ext xmlns:a="http://schemas.openxmlformats.org/drawingml/2006/main" cx="11277600" cy="3590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55520"/>
                <a:gridCol w="2255520"/>
                <a:gridCol w="2255520"/>
                <a:gridCol w="2255520"/>
                <a:gridCol w="2255520"/>
              </a:tblGrid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管线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事件数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忙碌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占墙钟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CUBE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165.1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704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87.8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30.3%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51.8%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AIC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FIXP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170.9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59.0%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278.0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95.9%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363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128.9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44.5%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44886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AIV1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VECTOR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277.7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200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95.8%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F45669A9-D77A-4BE4-8669-3721CEE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67350"/>
            <a:ext cx="11277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AIC 各管线可同时运行；AIV 的 36 个长 VECTOR 事件几乎填满整段墙钟。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786809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567C8963-B9B1-466D-94E3-CF86AB9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C32A87A4-64EC-4CA0-B4CF-3323CE0E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第三轮：校准 softmax 成本模型，收紧调度</a:t>
            </a:r>
            <a:endParaRPr/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9C9BEFA-107E-4A7C-92BB-B8F4CA684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为什么做：流水已填平大部分空档，但 ordinary softmax 的代价被低估，调度器仍会留下细小空泡；hint 只改调度，不改指令体</a:t>
            </a:r>
            <a:endParaRPr/>
          </a:p>
        </p:txBody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947199B-7321-4B2C-B547-82313C3D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CEC095A7-78F1-4040-8B76-72C8793B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6a92a65c204116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5AE97796-5774-48F6-9897-321A9674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2776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A"/>
          </a:solidFill>
          <a:ln xmlns:a="http://schemas.openxmlformats.org/drawingml/2006/main" w="9525">
            <a:solidFill>
              <a:srgbClr val="D9DEE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F5893ED-F431-49BD-A846-0FEEE7F1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398C5902-DF5C-444A-959D-62A2E776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9225"/>
            <a:ext cx="1082040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@T.macro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def ordinary_softmax(score_ub, prob_ub, max_ub, sum_ub, alpha_ub):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约 1344 条 SIMD ops / key block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按参考实现 ~1.41 ops/cycle 折算：1344 / 1.41 ≈ 948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# 只改变调度，不改变指令体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with T.SimdVF(latency=948):</a:t>
            </a:r>
            <a:endParaRPr/>
          </a:p>
          <a:p xmlns:a="http://schemas.openxmlformats.org/drawingml/2006/main">
            <a:pPr>
              <a:lnSpc>
                <a:spcPct val="130000"/>
              </a:lnSpc>
              <a:buNone/>
              <a:defRPr sz="1425" b="0">
                <a:solidFill>
                  <a:srgbClr val="16345E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16345E"/>
                </a:solidFill>
                <a:latin typeface="Consolas"/>
                <a:ea typeface="Consolas"/>
                <a:cs typeface="Consolas"/>
              </a:rPr>
              <a:t>        ...  # 原 softmax 指令体不变</a:t>
            </a:r>
            <a:endParaRPr/>
          </a:p>
        </p:txBody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1EB58D3-4D0A-4480-AFFA-37F17545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45E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D19EDC8-57E9-4549-8013-20CA14CE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提示前中位数</a:t>
            </a:r>
            <a:endParaRPr/>
          </a:p>
        </p:txBody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57018C52-DBB5-4EE5-9BDF-47CDA423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13.3 us</a:t>
            </a:r>
            <a:endParaRPr/>
          </a:p>
        </p:txBody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CCFF296D-8BC4-4E99-B27D-8BEA3230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619625"/>
            <a:ext cx="342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1A67CE38-C3EF-41FA-8624-C48753E1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705350"/>
            <a:ext cx="3124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提示后中位数</a:t>
            </a:r>
            <a:endParaRPr/>
          </a:p>
        </p:txBody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C08C970A-8FEF-4E17-A192-6CAB0540C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943475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12.1 us</a:t>
            </a:r>
            <a:endParaRPr/>
          </a:p>
        </p:txBody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103D0678-BD7A-48AC-8350-D645D5A3E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19625"/>
            <a:ext cx="34671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69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410C8FB4-B744-4139-B79A-585CB5D9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0535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DDE8F6"/>
                </a:solidFill>
                <a:latin typeface="Microsoft YaHei"/>
                <a:ea typeface="Microsoft YaHei"/>
                <a:cs typeface="Microsoft YaHei"/>
              </a:rPr>
              <a:t>独立复测</a:t>
            </a:r>
            <a:endParaRPr/>
          </a:p>
        </p:txBody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6C34E98-4202-436A-82A0-369E6524E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943475"/>
            <a:ext cx="316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次 / +9.0%</a:t>
            </a:r>
            <a:endParaRPr/>
          </a:p>
        </p:txBody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16CE268-FAB7-4350-9BE0-4888D2DE2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S=196：13.3 → 12.1 us；S=1600 / 4096 时延不变。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818958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AE279436-53E7-4580-B099-F56A4FAC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575A293B-538D-463D-9141-1EAE8322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逐轮时延演进与累计加速</a:t>
            </a:r>
            <a:endParaRPr/>
          </a:p>
        </p:txBody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76F2C23F-5E92-4EF0-AB32-D0E439EE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 case 时延演进，归一化到原始实现；并列出原始绝对时延</a:t>
            </a:r>
            <a:endParaRPr/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36320396-C855-49B5-A208-26376E8D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30E1FCC-96CD-4C2F-AE64-E550D455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9ef751483546b6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pic>
        <p:nvPicPr>
          <p:cNvPr id="2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22056015749fa"/>
          <a:stretch xmlns:a="http://schemas.openxmlformats.org/drawingml/2006/main"/>
        </p:blipFill>
        <p:spPr>
          <a:xfrm xmlns:a="http://schemas.openxmlformats.org/drawingml/2006/main">
            <a:off x="554880" y="1619250"/>
            <a:ext cx="5948265" cy="32385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241" name=""/>
          <p:cNvGraphicFramePr/>
          <p:nvPr/>
        </p:nvGraphicFramePr>
        <p:xfrm>
          <a:off xmlns:a="http://schemas.openxmlformats.org/drawingml/2006/main" x="6905625" y="1619250"/>
          <a:ext xmlns:a="http://schemas.openxmlformats.org/drawingml/2006/main" cx="4829175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7294"/>
                <a:gridCol w="1207294"/>
                <a:gridCol w="1207294"/>
                <a:gridCol w="1207294"/>
              </a:tblGrid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S=1600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469.2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2514.7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第一轮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346.7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第二轮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13.3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287.9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第三轮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12.1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287.5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</a:tbl>
          </a:graphicData>
        </a:graphic>
      </p:graphicFrame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4672D8FE-C87C-4277-8713-F58BF5B3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最终累计加速：S=196 ×2.74；S=1600 ×5.24；S=4096 ×8.75。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527220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44DF7FB-564D-4D16-9865-0871CBF5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4358443D-7694-44E5-8A56-71E2A2E3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67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Attention 算子优化</a:t>
            </a:r>
            <a:endParaRPr/>
          </a:p>
        </p:txBody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9BC597D-E022-4B4F-A8F3-6C87B1285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619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目</a:t>
            </a:r>
            <a:endParaRPr/>
          </a:p>
          <a:p xmlns:a="http://schemas.openxmlformats.org/drawingml/2006/main">
            <a:pPr>
              <a:lnSpc>
                <a:spcPct val="100000"/>
              </a:lnSpc>
              <a:buNone/>
              <a:def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录</a:t>
            </a:r>
            <a:endParaRPr/>
          </a:p>
        </p:txBody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8BF7E29-7E69-4861-ACBA-61895DA2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6C8CC"/>
                </a:solidFill>
                <a:latin typeface="Microsoft YaHei"/>
                <a:ea typeface="Microsoft YaHei"/>
                <a:cs typeface="Microsoft YaHei"/>
              </a:rPr>
              <a:t>CONTENTS</a:t>
            </a:r>
            <a:endParaRPr/>
          </a:p>
        </p:txBody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C9AB548D-D306-4343-B243-97C7113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47825"/>
            <a:ext cx="1905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DB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396C08E1-82CD-4E02-B891-5C31A3BF1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9145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B4BDB17D-5A1E-42CB-AC95-A2D39F90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240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1</a:t>
            </a:r>
            <a:endParaRPr/>
          </a:p>
        </p:txBody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07FB8EE-D9E7-47ED-B086-1BD4357D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050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算子背景</a:t>
            </a:r>
            <a:endParaRPr/>
          </a:p>
        </p:txBody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402387F2-04DE-45EF-B674-3464EA97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9813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33ED2480-5D6F-45C1-B484-D6C4B825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190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Part 2</a:t>
            </a:r>
            <a:endParaRPr/>
          </a:p>
        </p:txBody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FB68D746-1ED8-43C9-A93F-3D25C888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718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优化过程</a:t>
            </a:r>
            <a:endParaRPr/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3ED0BBD9-6010-4A47-8D9C-3CB5782D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48125"/>
            <a:ext cx="771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9525">
            <a:solidFill>
              <a:srgbClr val="E0E2E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30AF123D-E3E3-40CA-B350-D550ED47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2576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Part 3</a:t>
            </a:r>
            <a:endParaRPr/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F43CEDE-1DBD-402C-B689-0AFC36A25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57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结果复盘与可复用方法</a:t>
            </a:r>
            <a:endParaRPr/>
          </a:p>
        </p:txBody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C120281-10FB-455F-A43B-166761A8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1fcf893f94af1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20987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2C69032B-EBCB-4686-BD80-E52DF666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AF8A04C2-2657-40F4-83D0-1E0A5136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症状、证据与判断的速查表</a:t>
            </a:r>
            <a:endParaRPr/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B3D7B795-0781-45D6-9572-36D2518C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72 核均值 ratio 与关键核 trace 占空必须按同一口径比较</a:t>
            </a:r>
            <a:endParaRPr/>
          </a:p>
        </p:txBody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6AF262AD-0040-4EFF-8025-5F3CA182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C80E983-F22F-45C1-8DC4-2CD369E7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9cf580bcd42c4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259" name=""/>
          <p:cNvGraphicFramePr/>
          <p:nvPr/>
        </p:nvGraphicFramePr>
        <p:xfrm>
          <a:off xmlns:a="http://schemas.openxmlformats.org/drawingml/2006/main" x="457200" y="1638300"/>
          <a:ext xmlns:a="http://schemas.openxmlformats.org/drawingml/2006/main" cx="11277600" cy="3657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59200"/>
                <a:gridCol w="3759200"/>
                <a:gridCol w="3759200"/>
              </a:tblGrid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症状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先看什么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本例读数与结论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16345E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主导 pipe 占满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关键核 trace 空隙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S=4096 仅 7.4 us / 2.6% 空隙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时延降、vec_ratio 也降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时延 × vec_ratio + schedule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0.878→0.812，关键路径转到交接；3-stage 后 0.968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怀疑重叠不足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 四管 ratio 之和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 为 79%；S=4096 为 152%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搬运占比高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mte2 × 带宽 × 平均粒度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63.9% × 3.6% × 0.41 KB，结构问题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9FBF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核间忙闲不均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aiv_time min/avg/max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sz="1125" b="0">
                          <a:solidFill>
                            <a:srgbClr val="2029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S=196 最快 7.5 us、最慢 13.4 us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E7293AA1-D075-4381-858F-D5A1D520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776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判定顺序：Profile 定关键路径 → 生成代码找冗余 → trace 验证重叠 → 同条件 A/B 决策。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386680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90AC42D1-4F5D-47DD-A459-BD6F9667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5230319-B709-47D6-A2E6-193D03A6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1049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这次优化过程可以复用的四个动作</a:t>
            </a:r>
            <a:endParaRPr/>
          </a:p>
        </p:txBody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115942F1-A163-412C-A069-3368A54D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33425"/>
            <a:ext cx="1104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面向下一个 Cube/Vector 混合算子，按证据顺序推进</a:t>
            </a:r>
            <a:endParaRPr/>
          </a:p>
        </p:txBody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3B73C0F2-CBC3-4C46-AACB-F9F5BFC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4775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3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E694B9C8-7EC3-470E-86B8-186102AE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43675"/>
            <a:ext cx="3524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CANN 算子性能优化经验分享</a:t>
            </a:r>
            <a:endParaRPr/>
          </a:p>
        </p:txBody>
      </p:sp>
      <p:pic>
        <p:nvPicPr>
          <p:cNvPr id="2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b1f864f6f42ad"/>
          <a:stretch xmlns:a="http://schemas.openxmlformats.org/drawingml/2006/main"/>
        </p:blipFill>
        <p:spPr>
          <a:xfrm xmlns:a="http://schemas.openxmlformats.org/drawingml/2006/main">
            <a:off x="10706100" y="6343650"/>
            <a:ext cx="1314450" cy="352425"/>
          </a:xfrm>
          <a:prstGeom xmlns:a="http://schemas.openxmlformats.org/drawingml/2006/main" prst="rect">
            <a:avLst/>
          </a:prstGeom>
        </p:spPr>
      </p:pic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31B55394-2A76-445E-97F4-BB59A748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/>
          </a:p>
        </p:txBody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FE6DDB47-4341-47C4-9BD7-98D35A80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69545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按依赖外提</a:t>
            </a:r>
            <a:endParaRPr/>
          </a:p>
        </p:txBody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B14E0061-27CF-4EE6-8BDC-ED3BF720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key-only 索引从行循环外算一次，先消除确定的重复工作。</a:t>
            </a:r>
            <a:endParaRPr/>
          </a:p>
        </p:txBody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87AFB3F-DFE0-4864-BF7E-7AC17EBB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3BE6DF05-32A3-4C46-8D65-361051E1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5272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/>
          </a:p>
        </p:txBody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BB11C6A4-D3B8-4B8E-8729-555450C9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5272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倒推中间布局</a:t>
            </a:r>
            <a:endParaRPr/>
          </a:p>
        </p:txBody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EA5C2AC-B308-48F4-89D6-AF78E2E4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52725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由 PV 的 NZ 输入要求反推 softmax 写出，去掉 ND→NZ 中转。</a:t>
            </a:r>
            <a:endParaRPr/>
          </a:p>
        </p:txBody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DA90CED2-751F-4A7D-825B-B40C922E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5757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09625279-AF93-46CA-A590-8870F84F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/>
          </a:p>
        </p:txBody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61EF2FDA-840A-4681-AF37-C1584C58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10000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按 shape 设流水</a:t>
            </a:r>
            <a:endParaRPr/>
          </a:p>
        </p:txBody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ABCC2E04-468F-4FD7-98E7-EF28E1F9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10000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用 key 块数决定 2/3-stage，再通过 PipeTimeline 验证交错。</a:t>
            </a:r>
            <a:endParaRPr/>
          </a:p>
        </p:txBody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56DA058-A33D-4274-9874-A870AA7E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05B26CFF-699C-4BBB-A4DD-A1B704E2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/>
          </a:p>
        </p:txBody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B0526B1A-3212-4D26-A9A6-B2C60033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67275"/>
            <a:ext cx="268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45E"/>
                </a:solidFill>
                <a:latin typeface="Microsoft YaHei"/>
                <a:ea typeface="Microsoft YaHei"/>
                <a:cs typeface="Microsoft YaHei"/>
              </a:rPr>
              <a:t>校准成本模型</a:t>
            </a:r>
            <a:endParaRPr/>
          </a:p>
        </p:txBody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ACC24BA5-6ECB-4464-B070-653B0038F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867275"/>
            <a:ext cx="72866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02936"/>
                </a:solidFill>
                <a:latin typeface="Microsoft YaHei"/>
                <a:ea typeface="Microsoft YaHei"/>
                <a:cs typeface="Microsoft YaHei"/>
              </a:rPr>
              <a:t>指令体不变但 schedule 不佳时，给瓶颈 scope 一个可追溯的 latency hint。</a:t>
            </a:r>
            <a:endParaRPr/>
          </a:p>
        </p:txBody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9F6936FD-48BC-4FB4-B86F-79A4914D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C4BC967E-FC9D-473B-8D40-F939B909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1127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E6003C"/>
                </a:solidFill>
                <a:latin typeface="Microsoft YaHei"/>
                <a:ea typeface="Microsoft YaHei"/>
                <a:cs typeface="Microsoft YaHei"/>
              </a:rPr>
              <a:t>关键顺序：数据流冗余 → C/V 流水空档 → 调度成本模型。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574989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42ef92785a4d2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073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2026-09-30T06:30:01.8530000Z</dcterms:created>
  <dcterms:modified xsi:type="dcterms:W3CDTF">2026-09-30T06:30:01.8530000Z</dcterms:modified>
</coreProperties>
</file>